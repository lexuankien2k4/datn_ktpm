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81" r:id="rId4"/>
    <p:sldId id="260" r:id="rId5"/>
    <p:sldId id="274" r:id="rId6"/>
    <p:sldId id="263" r:id="rId7"/>
    <p:sldId id="276" r:id="rId8"/>
    <p:sldId id="277" r:id="rId9"/>
    <p:sldId id="278" r:id="rId10"/>
    <p:sldId id="279" r:id="rId11"/>
    <p:sldId id="270" r:id="rId12"/>
    <p:sldId id="282" r:id="rId13"/>
    <p:sldId id="268" r:id="rId14"/>
    <p:sldId id="283" r:id="rId15"/>
    <p:sldId id="284" r:id="rId16"/>
  </p:sldIdLst>
  <p:sldSz cx="18288000" cy="10287000"/>
  <p:notesSz cx="6858000" cy="9144000"/>
  <p:embeddedFontLst>
    <p:embeddedFont>
      <p:font typeface="Cambria" panose="02040503050406030204" pitchFamily="18" charset="0"/>
      <p:regular r:id="rId18"/>
      <p:bold r:id="rId19"/>
      <p:italic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569E"/>
    <a:srgbClr val="1645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7990" autoAdjust="0"/>
  </p:normalViewPr>
  <p:slideViewPr>
    <p:cSldViewPr>
      <p:cViewPr varScale="1">
        <p:scale>
          <a:sx n="48" d="100"/>
          <a:sy n="48" d="100"/>
        </p:scale>
        <p:origin x="1090" y="86"/>
      </p:cViewPr>
      <p:guideLst>
        <p:guide orient="horz" pos="2184"/>
        <p:guide pos="2880"/>
      </p:guideLst>
    </p:cSldViewPr>
  </p:slideViewPr>
  <p:outlineViewPr>
    <p:cViewPr>
      <p:scale>
        <a:sx n="33" d="100"/>
        <a:sy n="33" d="100"/>
      </p:scale>
      <p:origin x="0" y="0"/>
    </p:cViewPr>
  </p:outlin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A4BB61-B4F3-49F3-8E3C-4B63BBA04250}" type="datetimeFigureOut">
              <a:rPr lang="en-US" smtClean="0"/>
              <a:t>5/13/2026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655621-BB3A-4FD8-9F2D-99DAB64DC017}" type="slidenum">
              <a:rPr lang="en-US" smtClean="0"/>
              <a:t>‹#›</a:t>
            </a:fld>
            <a:endParaRPr lang="en-US"/>
          </a:p>
        </p:txBody>
      </p:sp>
    </p:spTree>
    <p:extLst>
      <p:ext uri="{BB962C8B-B14F-4D97-AF65-F5344CB8AC3E}">
        <p14:creationId xmlns:p14="http://schemas.microsoft.com/office/powerpoint/2010/main" val="3016637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2000" dirty="0">
                <a:latin typeface="Cambria" panose="02040503050406030204" pitchFamily="18" charset="0"/>
                <a:ea typeface="Cambria" panose="02040503050406030204" pitchFamily="18" charset="0"/>
              </a:rPr>
              <a:t>Lời đầu tiên, em xin gửi lời chào trân trọng tới quý thầy cô cùng toàn thể các bạn sinh viên có mặt trong buổi báo cáo tốt nghiệp ngày hôm nay</a:t>
            </a:r>
            <a:br>
              <a:rPr lang="vi-VN" sz="2000" dirty="0">
                <a:latin typeface="Cambria" panose="02040503050406030204" pitchFamily="18" charset="0"/>
                <a:ea typeface="Cambria" panose="02040503050406030204" pitchFamily="18" charset="0"/>
              </a:rPr>
            </a:br>
            <a:r>
              <a:rPr lang="vi-VN" sz="2000" dirty="0">
                <a:latin typeface="Cambria" panose="02040503050406030204" pitchFamily="18" charset="0"/>
                <a:ea typeface="Cambria" panose="02040503050406030204" pitchFamily="18" charset="0"/>
              </a:rPr>
              <a:t>Em tên là Lê Xuân Kiên, sinh viên </a:t>
            </a:r>
            <a:r>
              <a:rPr lang="en-US" sz="2000" dirty="0" err="1">
                <a:latin typeface="Cambria" panose="02040503050406030204" pitchFamily="18" charset="0"/>
                <a:ea typeface="Cambria" panose="02040503050406030204" pitchFamily="18" charset="0"/>
              </a:rPr>
              <a:t>lớp</a:t>
            </a:r>
            <a:r>
              <a:rPr lang="en-US" sz="2000" dirty="0">
                <a:latin typeface="Cambria" panose="02040503050406030204" pitchFamily="18" charset="0"/>
                <a:ea typeface="Cambria" panose="02040503050406030204" pitchFamily="18" charset="0"/>
              </a:rPr>
              <a:t> KTPM03 – K17</a:t>
            </a:r>
            <a:r>
              <a:rPr lang="vi-VN" sz="2000" dirty="0">
                <a:latin typeface="Cambria" panose="02040503050406030204" pitchFamily="18" charset="0"/>
                <a:ea typeface="Cambria" panose="02040503050406030204" pitchFamily="18" charset="0"/>
              </a:rPr>
              <a:t> Đại học Công nghiệp Hà Nội.</a:t>
            </a:r>
            <a:r>
              <a:rPr lang="en-US" sz="2000" dirty="0">
                <a:latin typeface="Cambria" panose="02040503050406030204" pitchFamily="18" charset="0"/>
                <a:ea typeface="Cambria" panose="02040503050406030204"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2000" kern="1200" dirty="0">
                <a:solidFill>
                  <a:schemeClr val="tx1"/>
                </a:solidFill>
                <a:effectLst/>
                <a:latin typeface="Cambria" panose="02040503050406030204" pitchFamily="18" charset="0"/>
                <a:ea typeface="Cambria" panose="02040503050406030204" pitchFamily="18" charset="0"/>
                <a:cs typeface="+mn-cs"/>
              </a:rPr>
              <a:t>Hôm nay em xin được trình bày đồ án tốt nghiệp với đề tài: Xây dựng hệ thống gợi ý và hỗ trợ lựa chọn ô tô trực tuyến ứng dụng học máy', dưới sự hướng dẫn của Thầy TS. Nguyễn Ngọc Khải.</a:t>
            </a:r>
          </a:p>
        </p:txBody>
      </p:sp>
      <p:sp>
        <p:nvSpPr>
          <p:cNvPr id="4" name="Slide Number Placeholder 3"/>
          <p:cNvSpPr>
            <a:spLocks noGrp="1"/>
          </p:cNvSpPr>
          <p:nvPr>
            <p:ph type="sldNum" sz="quarter" idx="5"/>
          </p:nvPr>
        </p:nvSpPr>
        <p:spPr/>
        <p:txBody>
          <a:bodyPr/>
          <a:lstStyle/>
          <a:p>
            <a:fld id="{7C655621-BB3A-4FD8-9F2D-99DAB64DC017}" type="slidenum">
              <a:rPr lang="en-US" smtClean="0"/>
              <a:t>1</a:t>
            </a:fld>
            <a:endParaRPr lang="en-US"/>
          </a:p>
        </p:txBody>
      </p:sp>
    </p:spTree>
    <p:extLst>
      <p:ext uri="{BB962C8B-B14F-4D97-AF65-F5344CB8AC3E}">
        <p14:creationId xmlns:p14="http://schemas.microsoft.com/office/powerpoint/2010/main" val="654010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i="1" kern="1200" dirty="0">
                <a:solidFill>
                  <a:schemeClr val="tx1"/>
                </a:solidFill>
                <a:effectLst/>
                <a:latin typeface="+mn-lt"/>
                <a:ea typeface="+mn-ea"/>
                <a:cs typeface="+mn-cs"/>
              </a:rPr>
              <a:t>"Bài thuyết trình hôm nay của em gồm năm phần chính:</a:t>
            </a:r>
            <a:endParaRPr lang="vi-VN" sz="1200" kern="1200" dirty="0">
              <a:solidFill>
                <a:schemeClr val="tx1"/>
              </a:solidFill>
              <a:effectLst/>
              <a:latin typeface="+mn-lt"/>
              <a:ea typeface="+mn-ea"/>
              <a:cs typeface="+mn-cs"/>
            </a:endParaRPr>
          </a:p>
          <a:p>
            <a:r>
              <a:rPr lang="vi-VN" sz="1200" kern="1200" dirty="0">
                <a:solidFill>
                  <a:schemeClr val="tx1"/>
                </a:solidFill>
                <a:effectLst/>
                <a:latin typeface="+mn-lt"/>
                <a:ea typeface="+mn-ea"/>
                <a:cs typeface="+mn-cs"/>
              </a:rPr>
              <a:t>Phần 1 – đặt vấn đề .</a:t>
            </a:r>
          </a:p>
          <a:p>
            <a:r>
              <a:rPr lang="vi-VN" sz="1200" kern="1200" dirty="0">
                <a:solidFill>
                  <a:schemeClr val="tx1"/>
                </a:solidFill>
                <a:effectLst/>
                <a:latin typeface="+mn-lt"/>
                <a:ea typeface="+mn-ea"/>
                <a:cs typeface="+mn-cs"/>
              </a:rPr>
              <a:t>Phần 2 – phân tích và thiết kế hệ thống</a:t>
            </a:r>
            <a:endParaRPr lang="en-US" sz="1200" kern="1200" dirty="0">
              <a:solidFill>
                <a:schemeClr val="tx1"/>
              </a:solidFill>
              <a:effectLst/>
              <a:latin typeface="+mn-lt"/>
              <a:ea typeface="+mn-ea"/>
              <a:cs typeface="+mn-cs"/>
            </a:endParaRPr>
          </a:p>
          <a:p>
            <a:r>
              <a:rPr lang="vi-VN" sz="1200" kern="1200" dirty="0">
                <a:solidFill>
                  <a:schemeClr val="tx1"/>
                </a:solidFill>
                <a:effectLst/>
                <a:latin typeface="+mn-lt"/>
                <a:ea typeface="+mn-ea"/>
                <a:cs typeface="+mn-cs"/>
              </a:rPr>
              <a:t>Phần 3 – kiểm thử hệ thống.</a:t>
            </a:r>
            <a:endParaRPr lang="en-US" sz="1200" kern="1200" dirty="0">
              <a:solidFill>
                <a:schemeClr val="tx1"/>
              </a:solidFill>
              <a:effectLst/>
              <a:latin typeface="+mn-lt"/>
              <a:ea typeface="+mn-ea"/>
              <a:cs typeface="+mn-cs"/>
            </a:endParaRPr>
          </a:p>
          <a:p>
            <a:r>
              <a:rPr lang="vi-VN" sz="1200" kern="1200" dirty="0">
                <a:solidFill>
                  <a:schemeClr val="tx1"/>
                </a:solidFill>
                <a:effectLst/>
                <a:latin typeface="+mn-lt"/>
                <a:ea typeface="+mn-ea"/>
                <a:cs typeface="+mn-cs"/>
              </a:rPr>
              <a:t>Phần 4 – chạy thực nghiệm hệ thống.</a:t>
            </a:r>
          </a:p>
          <a:p>
            <a:r>
              <a:rPr lang="vi-VN" sz="1200" kern="1200" dirty="0">
                <a:solidFill>
                  <a:schemeClr val="tx1"/>
                </a:solidFill>
                <a:effectLst/>
                <a:latin typeface="+mn-lt"/>
                <a:ea typeface="+mn-ea"/>
                <a:cs typeface="+mn-cs"/>
              </a:rPr>
              <a:t>Phần 5  - kết luận và hướng phát triển.</a:t>
            </a:r>
          </a:p>
          <a:p>
            <a:r>
              <a:rPr lang="vi-VN" sz="1200" kern="1200" dirty="0">
                <a:solidFill>
                  <a:schemeClr val="tx1"/>
                </a:solidFill>
                <a:effectLst/>
                <a:latin typeface="+mn-lt"/>
                <a:ea typeface="+mn-ea"/>
                <a:cs typeface="+mn-cs"/>
              </a:rPr>
              <a:t>Bây giờ em xin bắt đầu từ phần đầu tiên."*</a:t>
            </a:r>
          </a:p>
        </p:txBody>
      </p:sp>
      <p:sp>
        <p:nvSpPr>
          <p:cNvPr id="4" name="Slide Number Placeholder 3"/>
          <p:cNvSpPr>
            <a:spLocks noGrp="1"/>
          </p:cNvSpPr>
          <p:nvPr>
            <p:ph type="sldNum" sz="quarter" idx="5"/>
          </p:nvPr>
        </p:nvSpPr>
        <p:spPr/>
        <p:txBody>
          <a:bodyPr/>
          <a:lstStyle/>
          <a:p>
            <a:fld id="{7C655621-BB3A-4FD8-9F2D-99DAB64DC017}" type="slidenum">
              <a:rPr lang="en-US" smtClean="0"/>
              <a:t>2</a:t>
            </a:fld>
            <a:endParaRPr lang="en-US"/>
          </a:p>
        </p:txBody>
      </p:sp>
    </p:spTree>
    <p:extLst>
      <p:ext uri="{BB962C8B-B14F-4D97-AF65-F5344CB8AC3E}">
        <p14:creationId xmlns:p14="http://schemas.microsoft.com/office/powerpoint/2010/main" val="35325166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Lý do em lựa chọn đề tài này xuất phát từ thực trạng của thị trường ô tô hiện nay. Với phương thức mua xe </a:t>
            </a:r>
            <a:r>
              <a:rPr lang="vi-VN" b="1" dirty="0"/>
              <a:t>Truyền thống</a:t>
            </a:r>
            <a:r>
              <a:rPr lang="vi-VN" dirty="0"/>
              <a:t>, khách hàng thường bị quá tải bởi hàng nghìn thông số kỹ thuật tĩnh và phụ thuộc hoàn toàn vào nhân viên tư vấn. Bên cạnh đó, quy trình tính toán trả góp hay quản lý kho bãi vẫn còn rời rạc, dễ dẫn đến sai sót và chậm trễ trong khâu làm giấy tờ.</a:t>
            </a:r>
            <a:endParaRPr lang="en-US" dirty="0"/>
          </a:p>
          <a:p>
            <a:endParaRPr lang="en-US" dirty="0"/>
          </a:p>
          <a:p>
            <a:r>
              <a:rPr lang="vi-VN" dirty="0"/>
              <a:t>Để giải quyết bài toán này, em đã xây dựng hệ thống </a:t>
            </a:r>
            <a:r>
              <a:rPr lang="vi-VN" b="1" dirty="0"/>
              <a:t>Ứng dụng Học máy</a:t>
            </a:r>
            <a:r>
              <a:rPr lang="vi-VN" dirty="0"/>
              <a:t>. Điểm khác biệt cốt lõi là sự xuất hiện của Trợ lý AI cá nhân hóa giúp bóc tách nhu cầu thực tế của khách hàng, kết hợp với công cụ dự toán trực tuyến và luồng thanh toán </a:t>
            </a:r>
            <a:r>
              <a:rPr lang="vi-VN" dirty="0" err="1"/>
              <a:t>VNPay</a:t>
            </a:r>
            <a:r>
              <a:rPr lang="vi-VN" dirty="0"/>
              <a:t> khép kín. Mục tiêu của em là tạo ra một trải nghiệm mua sắm ô tô hiện đại, minh bạch và nhanh chóng."</a:t>
            </a:r>
          </a:p>
        </p:txBody>
      </p:sp>
      <p:sp>
        <p:nvSpPr>
          <p:cNvPr id="4" name="Slide Number Placeholder 3"/>
          <p:cNvSpPr>
            <a:spLocks noGrp="1"/>
          </p:cNvSpPr>
          <p:nvPr>
            <p:ph type="sldNum" sz="quarter" idx="5"/>
          </p:nvPr>
        </p:nvSpPr>
        <p:spPr/>
        <p:txBody>
          <a:bodyPr/>
          <a:lstStyle/>
          <a:p>
            <a:fld id="{7C655621-BB3A-4FD8-9F2D-99DAB64DC017}" type="slidenum">
              <a:rPr lang="en-US" smtClean="0"/>
              <a:t>3</a:t>
            </a:fld>
            <a:endParaRPr lang="en-US"/>
          </a:p>
        </p:txBody>
      </p:sp>
    </p:spTree>
    <p:extLst>
      <p:ext uri="{BB962C8B-B14F-4D97-AF65-F5344CB8AC3E}">
        <p14:creationId xmlns:p14="http://schemas.microsoft.com/office/powerpoint/2010/main" val="3788549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dirty="0">
                <a:solidFill>
                  <a:srgbClr val="16458C"/>
                </a:solidFill>
                <a:latin typeface="Cambria" panose="02040503050406030204" pitchFamily="18" charset="0"/>
                <a:ea typeface="Cambria" panose="02040503050406030204" pitchFamily="18" charset="0"/>
                <a:cs typeface="Cambria"/>
                <a:sym typeface="Cambria"/>
              </a:rPr>
              <a:t>Tiếp đến phần 2 là phân tích thiết kế hệ thống bao gồm  biểu đồ </a:t>
            </a:r>
            <a:r>
              <a:rPr lang="vi-VN" sz="1200" dirty="0" err="1">
                <a:solidFill>
                  <a:srgbClr val="16458C"/>
                </a:solidFill>
                <a:latin typeface="Cambria" panose="02040503050406030204" pitchFamily="18" charset="0"/>
                <a:ea typeface="Cambria" panose="02040503050406030204" pitchFamily="18" charset="0"/>
                <a:cs typeface="Cambria"/>
                <a:sym typeface="Cambria"/>
              </a:rPr>
              <a:t>uc</a:t>
            </a:r>
            <a:r>
              <a:rPr lang="vi-VN" sz="1200" dirty="0">
                <a:solidFill>
                  <a:srgbClr val="16458C"/>
                </a:solidFill>
                <a:latin typeface="Cambria" panose="02040503050406030204" pitchFamily="18" charset="0"/>
                <a:ea typeface="Cambria" panose="02040503050406030204" pitchFamily="18" charset="0"/>
                <a:cs typeface="Cambria"/>
                <a:sym typeface="Cambria"/>
              </a:rPr>
              <a:t> tổng quát , </a:t>
            </a:r>
            <a:r>
              <a:rPr lang="vi-VN" sz="1200" dirty="0" err="1">
                <a:solidFill>
                  <a:srgbClr val="16458C"/>
                </a:solidFill>
                <a:latin typeface="Cambria" panose="02040503050406030204" pitchFamily="18" charset="0"/>
                <a:ea typeface="Cambria" panose="02040503050406030204" pitchFamily="18" charset="0"/>
                <a:cs typeface="Cambria"/>
                <a:sym typeface="Cambria"/>
              </a:rPr>
              <a:t>pt</a:t>
            </a:r>
            <a:r>
              <a:rPr lang="vi-VN" sz="1200" dirty="0">
                <a:solidFill>
                  <a:srgbClr val="16458C"/>
                </a:solidFill>
                <a:latin typeface="Cambria" panose="02040503050406030204" pitchFamily="18" charset="0"/>
                <a:ea typeface="Cambria" panose="02040503050406030204" pitchFamily="18" charset="0"/>
                <a:cs typeface="Cambria"/>
                <a:sym typeface="Cambria"/>
              </a:rPr>
              <a:t> luồng nghiệp vụ cốt lõi, thiết kế </a:t>
            </a:r>
            <a:r>
              <a:rPr lang="vi-VN" sz="1200" dirty="0" err="1">
                <a:solidFill>
                  <a:srgbClr val="16458C"/>
                </a:solidFill>
                <a:latin typeface="Cambria" panose="02040503050406030204" pitchFamily="18" charset="0"/>
                <a:ea typeface="Cambria" panose="02040503050406030204" pitchFamily="18" charset="0"/>
                <a:cs typeface="Cambria"/>
                <a:sym typeface="Cambria"/>
              </a:rPr>
              <a:t>csdl</a:t>
            </a:r>
            <a:r>
              <a:rPr lang="vi-VN" sz="1200" dirty="0">
                <a:solidFill>
                  <a:srgbClr val="16458C"/>
                </a:solidFill>
                <a:latin typeface="Cambria" panose="02040503050406030204" pitchFamily="18" charset="0"/>
                <a:ea typeface="Cambria" panose="02040503050406030204" pitchFamily="18" charset="0"/>
                <a:cs typeface="Cambria"/>
                <a:sym typeface="Cambria"/>
              </a:rPr>
              <a:t> và cuối cùng là thiết kế giao diện</a:t>
            </a:r>
            <a:endParaRPr lang="en-US" sz="1200" dirty="0">
              <a:solidFill>
                <a:srgbClr val="16458C"/>
              </a:solidFill>
              <a:latin typeface="Cambria" panose="02040503050406030204" pitchFamily="18" charset="0"/>
              <a:ea typeface="Cambria" panose="02040503050406030204" pitchFamily="18" charset="0"/>
              <a:cs typeface="Cambria"/>
              <a:sym typeface="Cambria"/>
            </a:endParaRPr>
          </a:p>
        </p:txBody>
      </p:sp>
      <p:sp>
        <p:nvSpPr>
          <p:cNvPr id="4" name="Slide Number Placeholder 3"/>
          <p:cNvSpPr>
            <a:spLocks noGrp="1"/>
          </p:cNvSpPr>
          <p:nvPr>
            <p:ph type="sldNum" sz="quarter" idx="5"/>
          </p:nvPr>
        </p:nvSpPr>
        <p:spPr/>
        <p:txBody>
          <a:bodyPr/>
          <a:lstStyle/>
          <a:p>
            <a:fld id="{7C655621-BB3A-4FD8-9F2D-99DAB64DC017}" type="slidenum">
              <a:rPr lang="en-US" smtClean="0"/>
              <a:t>4</a:t>
            </a:fld>
            <a:endParaRPr lang="en-US"/>
          </a:p>
        </p:txBody>
      </p:sp>
    </p:spTree>
    <p:extLst>
      <p:ext uri="{BB962C8B-B14F-4D97-AF65-F5344CB8AC3E}">
        <p14:creationId xmlns:p14="http://schemas.microsoft.com/office/powerpoint/2010/main" val="2258439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Về mặt thiết kế, hệ thống của em bao gồm 3 tác nhân chính: Khách truy cập, Khách hàng và Người quản lý. Khách truy cập có thể thực hiện đầy đủ luồng từ tư vấn AI, xem sản phẩm chi tiết. Người quản lý sẽ chịu trách nhiệm vận hành kho, duyệt hợp đồng và theo dõi báo cáo</a:t>
            </a:r>
          </a:p>
        </p:txBody>
      </p:sp>
      <p:sp>
        <p:nvSpPr>
          <p:cNvPr id="4" name="Slide Number Placeholder 3"/>
          <p:cNvSpPr>
            <a:spLocks noGrp="1"/>
          </p:cNvSpPr>
          <p:nvPr>
            <p:ph type="sldNum" sz="quarter" idx="5"/>
          </p:nvPr>
        </p:nvSpPr>
        <p:spPr/>
        <p:txBody>
          <a:bodyPr/>
          <a:lstStyle/>
          <a:p>
            <a:fld id="{7C655621-BB3A-4FD8-9F2D-99DAB64DC017}" type="slidenum">
              <a:rPr lang="en-US" smtClean="0"/>
              <a:t>5</a:t>
            </a:fld>
            <a:endParaRPr lang="en-US"/>
          </a:p>
        </p:txBody>
      </p:sp>
    </p:spTree>
    <p:extLst>
      <p:ext uri="{BB962C8B-B14F-4D97-AF65-F5344CB8AC3E}">
        <p14:creationId xmlns:p14="http://schemas.microsoft.com/office/powerpoint/2010/main" val="3079330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Đi sâu vào luồng nghiệp vụ cốt lõi, em xin trình bày quy trình </a:t>
            </a:r>
            <a:r>
              <a:rPr lang="vi-VN" b="1" dirty="0"/>
              <a:t>Mua xe với AI</a:t>
            </a:r>
            <a:r>
              <a:rPr lang="vi-VN" dirty="0"/>
              <a:t>. Khi người dùng tương tác với AI:</a:t>
            </a:r>
          </a:p>
          <a:p>
            <a:r>
              <a:rPr lang="vi-VN" dirty="0"/>
              <a:t>1.AI đề xuất mẫu xe phù hợp.</a:t>
            </a:r>
          </a:p>
          <a:p>
            <a:r>
              <a:rPr lang="vi-VN" dirty="0"/>
              <a:t>2. Khách hàng cấu hình thông số tài chính (như số tiền trả trước, kỳ hạn vay).</a:t>
            </a:r>
          </a:p>
          <a:p>
            <a:r>
              <a:rPr lang="vi-VN" dirty="0"/>
              <a:t>3. Hệ thống tạo hợp đồng điện tử để khách hàng ký trực tuyến.</a:t>
            </a:r>
          </a:p>
          <a:p>
            <a:r>
              <a:rPr lang="vi-VN" dirty="0"/>
              <a:t>4.Cuối cùng là bước thanh toán cọc qua </a:t>
            </a:r>
            <a:r>
              <a:rPr lang="vi-VN" dirty="0" err="1"/>
              <a:t>VNPay</a:t>
            </a:r>
            <a:r>
              <a:rPr lang="vi-VN" dirty="0"/>
              <a:t>. </a:t>
            </a:r>
            <a:r>
              <a:rPr lang="vi-VN" b="1" dirty="0"/>
              <a:t>Đặc biệt:</a:t>
            </a:r>
            <a:r>
              <a:rPr lang="vi-VN" dirty="0"/>
              <a:t> Ngay khi thanh toán thành công, hệ thống sẽ tự động gán số khung (VIN) từ kho xe cho hợp đồng đó, đảm bảo tính duy nhất và giữ chỗ xe cho khách hàng ngay lập tức."</a:t>
            </a:r>
          </a:p>
          <a:p>
            <a:endParaRPr lang="vi-VN" dirty="0"/>
          </a:p>
        </p:txBody>
      </p:sp>
      <p:sp>
        <p:nvSpPr>
          <p:cNvPr id="4" name="Slide Number Placeholder 3"/>
          <p:cNvSpPr>
            <a:spLocks noGrp="1"/>
          </p:cNvSpPr>
          <p:nvPr>
            <p:ph type="sldNum" sz="quarter" idx="5"/>
          </p:nvPr>
        </p:nvSpPr>
        <p:spPr/>
        <p:txBody>
          <a:bodyPr/>
          <a:lstStyle/>
          <a:p>
            <a:fld id="{7C655621-BB3A-4FD8-9F2D-99DAB64DC017}" type="slidenum">
              <a:rPr lang="en-US" smtClean="0"/>
              <a:t>6</a:t>
            </a:fld>
            <a:endParaRPr lang="en-US"/>
          </a:p>
        </p:txBody>
      </p:sp>
    </p:spTree>
    <p:extLst>
      <p:ext uri="{BB962C8B-B14F-4D97-AF65-F5344CB8AC3E}">
        <p14:creationId xmlns:p14="http://schemas.microsoft.com/office/powerpoint/2010/main" val="1850310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9F87C-E8B9-5843-706E-499EF0E0A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15586-93E9-9DD0-DE44-F8661E1CCC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EE5B48-3224-68B5-5DB1-A3D6D8A07282}"/>
              </a:ext>
            </a:extLst>
          </p:cNvPr>
          <p:cNvSpPr>
            <a:spLocks noGrp="1"/>
          </p:cNvSpPr>
          <p:nvPr>
            <p:ph type="body" idx="1"/>
          </p:nvPr>
        </p:nvSpPr>
        <p:spPr/>
        <p:txBody>
          <a:bodyPr/>
          <a:lstStyle/>
          <a:p>
            <a:r>
              <a:rPr lang="vi-VN" dirty="0"/>
              <a:t>Hệ thống sử dụng hệ quản trị CSDL </a:t>
            </a:r>
            <a:r>
              <a:rPr lang="vi-VN" dirty="0" err="1"/>
              <a:t>MySQL</a:t>
            </a:r>
            <a:r>
              <a:rPr lang="vi-VN" dirty="0"/>
              <a:t> với tổng cộng 19 bảng, trong đó bảng </a:t>
            </a:r>
            <a:r>
              <a:rPr lang="vi-VN" dirty="0" err="1"/>
              <a:t>Car_variants</a:t>
            </a:r>
            <a:r>
              <a:rPr lang="vi-VN" dirty="0"/>
              <a:t> và </a:t>
            </a:r>
            <a:r>
              <a:rPr lang="vi-VN" dirty="0" err="1"/>
              <a:t>Car_stock</a:t>
            </a:r>
            <a:r>
              <a:rPr lang="vi-VN" dirty="0"/>
              <a:t> đóng vai trò lưu trữ linh hồn của sản phẩm. </a:t>
            </a:r>
            <a:endParaRPr lang="vi-V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5FC125E-8F23-A3D3-F148-4E17A0FBA468}"/>
              </a:ext>
            </a:extLst>
          </p:cNvPr>
          <p:cNvSpPr>
            <a:spLocks noGrp="1"/>
          </p:cNvSpPr>
          <p:nvPr>
            <p:ph type="sldNum" sz="quarter" idx="5"/>
          </p:nvPr>
        </p:nvSpPr>
        <p:spPr/>
        <p:txBody>
          <a:bodyPr/>
          <a:lstStyle/>
          <a:p>
            <a:fld id="{7C655621-BB3A-4FD8-9F2D-99DAB64DC017}" type="slidenum">
              <a:rPr lang="en-US" smtClean="0"/>
              <a:t>7</a:t>
            </a:fld>
            <a:endParaRPr lang="en-US"/>
          </a:p>
        </p:txBody>
      </p:sp>
    </p:spTree>
    <p:extLst>
      <p:ext uri="{BB962C8B-B14F-4D97-AF65-F5344CB8AC3E}">
        <p14:creationId xmlns:p14="http://schemas.microsoft.com/office/powerpoint/2010/main" val="27798632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9F87C-E8B9-5843-706E-499EF0E0A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15586-93E9-9DD0-DE44-F8661E1CCC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EE5B48-3224-68B5-5DB1-A3D6D8A07282}"/>
              </a:ext>
            </a:extLst>
          </p:cNvPr>
          <p:cNvSpPr>
            <a:spLocks noGrp="1"/>
          </p:cNvSpPr>
          <p:nvPr>
            <p:ph type="body" idx="1"/>
          </p:nvPr>
        </p:nvSpPr>
        <p:spPr/>
        <p:txBody>
          <a:bodyPr/>
          <a:lstStyle/>
          <a:p>
            <a:r>
              <a:rPr lang="vi-VN" dirty="0"/>
              <a:t>Về giao diện, em sử dụng công cụ Mockup để thiết kế tối ưu tính trực quan và tương thích trên nhiều thiết bị."</a:t>
            </a:r>
            <a:endParaRPr lang="vi-V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5FC125E-8F23-A3D3-F148-4E17A0FBA468}"/>
              </a:ext>
            </a:extLst>
          </p:cNvPr>
          <p:cNvSpPr>
            <a:spLocks noGrp="1"/>
          </p:cNvSpPr>
          <p:nvPr>
            <p:ph type="sldNum" sz="quarter" idx="5"/>
          </p:nvPr>
        </p:nvSpPr>
        <p:spPr/>
        <p:txBody>
          <a:bodyPr/>
          <a:lstStyle/>
          <a:p>
            <a:fld id="{7C655621-BB3A-4FD8-9F2D-99DAB64DC017}" type="slidenum">
              <a:rPr lang="en-US" smtClean="0"/>
              <a:t>8</a:t>
            </a:fld>
            <a:endParaRPr lang="en-US"/>
          </a:p>
        </p:txBody>
      </p:sp>
    </p:spTree>
    <p:extLst>
      <p:ext uri="{BB962C8B-B14F-4D97-AF65-F5344CB8AC3E}">
        <p14:creationId xmlns:p14="http://schemas.microsoft.com/office/powerpoint/2010/main" val="699026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9F87C-E8B9-5843-706E-499EF0E0A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15586-93E9-9DD0-DE44-F8661E1CCC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EE5B48-3224-68B5-5DB1-A3D6D8A07282}"/>
              </a:ext>
            </a:extLst>
          </p:cNvPr>
          <p:cNvSpPr>
            <a:spLocks noGrp="1"/>
          </p:cNvSpPr>
          <p:nvPr>
            <p:ph type="body" idx="1"/>
          </p:nvPr>
        </p:nvSpPr>
        <p:spPr/>
        <p:txBody>
          <a:bodyPr/>
          <a:lstStyle/>
          <a:p>
            <a:r>
              <a:rPr lang="vi-VN" dirty="0"/>
              <a:t>"Trái tim của hệ thống chính là mô hình Học máy. Em lựa chọn kỹ thuật </a:t>
            </a:r>
            <a:r>
              <a:rPr lang="vi-VN" b="1" dirty="0" err="1"/>
              <a:t>Content-based</a:t>
            </a:r>
            <a:r>
              <a:rPr lang="vi-VN" b="1" dirty="0"/>
              <a:t> </a:t>
            </a:r>
            <a:r>
              <a:rPr lang="vi-VN" b="1" dirty="0" err="1"/>
              <a:t>Filtering</a:t>
            </a:r>
            <a:r>
              <a:rPr lang="vi-VN" dirty="0"/>
              <a:t> vì hệ thống mới chưa có dữ liệu hành vi người dùng nên không thể dùng </a:t>
            </a:r>
            <a:r>
              <a:rPr lang="vi-VN" dirty="0" err="1"/>
              <a:t>Collaborative</a:t>
            </a:r>
            <a:r>
              <a:rPr lang="vi-VN" dirty="0"/>
              <a:t> </a:t>
            </a:r>
            <a:r>
              <a:rPr lang="vi-VN" dirty="0" err="1"/>
              <a:t>Filtering</a:t>
            </a:r>
            <a:r>
              <a:rPr lang="vi-VN" dirty="0"/>
              <a:t>.</a:t>
            </a:r>
          </a:p>
          <a:p>
            <a:r>
              <a:rPr lang="vi-VN" dirty="0"/>
              <a:t>Quy trình xử lý gồm 4 bước kỹ thuật:</a:t>
            </a:r>
          </a:p>
          <a:p>
            <a:pPr>
              <a:buFont typeface="Arial" panose="020B0604020202020204" pitchFamily="34" charset="0"/>
              <a:buChar char="•"/>
            </a:pPr>
            <a:r>
              <a:rPr lang="vi-VN" dirty="0"/>
              <a:t>Sử dụng </a:t>
            </a:r>
            <a:r>
              <a:rPr lang="vi-VN" dirty="0" err="1"/>
              <a:t>MinMaxScaler</a:t>
            </a:r>
            <a:r>
              <a:rPr lang="vi-VN" dirty="0"/>
              <a:t> để đưa các thông số như giá, mã lực về cùng một khoảng [0, 1].</a:t>
            </a:r>
          </a:p>
          <a:p>
            <a:pPr>
              <a:buFont typeface="Arial" panose="020B0604020202020204" pitchFamily="34" charset="0"/>
              <a:buChar char="•"/>
            </a:pPr>
            <a:r>
              <a:rPr lang="vi-VN" dirty="0" err="1"/>
              <a:t>One-hot</a:t>
            </a:r>
            <a:r>
              <a:rPr lang="vi-VN" dirty="0"/>
              <a:t> </a:t>
            </a:r>
            <a:r>
              <a:rPr lang="vi-VN" dirty="0" err="1"/>
              <a:t>Encoding</a:t>
            </a:r>
            <a:r>
              <a:rPr lang="vi-VN" dirty="0"/>
              <a:t> để mã hóa các đặc trưng như kiểu dáng, nhiên liệu.</a:t>
            </a:r>
          </a:p>
          <a:p>
            <a:pPr>
              <a:buFont typeface="Arial" panose="020B0604020202020204" pitchFamily="34" charset="0"/>
              <a:buChar char="•"/>
            </a:pPr>
            <a:r>
              <a:rPr lang="vi-VN" dirty="0"/>
              <a:t>Áp dụng </a:t>
            </a:r>
            <a:r>
              <a:rPr lang="vi-VN" dirty="0" err="1"/>
              <a:t>Feature</a:t>
            </a:r>
            <a:r>
              <a:rPr lang="vi-VN" dirty="0"/>
              <a:t> </a:t>
            </a:r>
            <a:r>
              <a:rPr lang="vi-VN" dirty="0" err="1"/>
              <a:t>Weighting</a:t>
            </a:r>
            <a:r>
              <a:rPr lang="vi-VN" dirty="0"/>
              <a:t> để tăng trọng số cho những tiêu chí mà người dùng ưu tiên.</a:t>
            </a:r>
          </a:p>
          <a:p>
            <a:pPr>
              <a:buFont typeface="Arial" panose="020B0604020202020204" pitchFamily="34" charset="0"/>
              <a:buChar char="•"/>
            </a:pPr>
            <a:r>
              <a:rPr lang="vi-VN" dirty="0"/>
              <a:t>Và cuối cùng là dùng </a:t>
            </a:r>
            <a:r>
              <a:rPr lang="vi-VN" b="1" dirty="0" err="1"/>
              <a:t>Cosine</a:t>
            </a:r>
            <a:r>
              <a:rPr lang="vi-VN" b="1" dirty="0"/>
              <a:t> </a:t>
            </a:r>
            <a:r>
              <a:rPr lang="vi-VN" b="1" dirty="0" err="1"/>
              <a:t>Similarity</a:t>
            </a:r>
            <a:r>
              <a:rPr lang="vi-VN" dirty="0"/>
              <a:t> để đo độ tương đồng giữa '</a:t>
            </a:r>
            <a:r>
              <a:rPr lang="vi-VN" dirty="0" err="1"/>
              <a:t>vector</a:t>
            </a:r>
            <a:r>
              <a:rPr lang="vi-VN" dirty="0"/>
              <a:t> nhu cầu' và '</a:t>
            </a:r>
            <a:r>
              <a:rPr lang="vi-VN" dirty="0" err="1"/>
              <a:t>vector</a:t>
            </a:r>
            <a:r>
              <a:rPr lang="vi-VN" dirty="0"/>
              <a:t> xe'. Hệ thống sẽ trả về 3 mẫu xe có điểm tương thích cao nhất với tốc độ phản hồi gần như tức thì."</a:t>
            </a:r>
          </a:p>
          <a:p>
            <a:endParaRPr lang="vi-V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5FC125E-8F23-A3D3-F148-4E17A0FBA468}"/>
              </a:ext>
            </a:extLst>
          </p:cNvPr>
          <p:cNvSpPr>
            <a:spLocks noGrp="1"/>
          </p:cNvSpPr>
          <p:nvPr>
            <p:ph type="sldNum" sz="quarter" idx="5"/>
          </p:nvPr>
        </p:nvSpPr>
        <p:spPr/>
        <p:txBody>
          <a:bodyPr/>
          <a:lstStyle/>
          <a:p>
            <a:fld id="{7C655621-BB3A-4FD8-9F2D-99DAB64DC017}" type="slidenum">
              <a:rPr lang="en-US" smtClean="0"/>
              <a:t>9</a:t>
            </a:fld>
            <a:endParaRPr lang="en-US"/>
          </a:p>
        </p:txBody>
      </p:sp>
    </p:spTree>
    <p:extLst>
      <p:ext uri="{BB962C8B-B14F-4D97-AF65-F5344CB8AC3E}">
        <p14:creationId xmlns:p14="http://schemas.microsoft.com/office/powerpoint/2010/main" val="29792251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9F87C-E8B9-5843-706E-499EF0E0A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15586-93E9-9DD0-DE44-F8661E1CCC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EE5B48-3224-68B5-5DB1-A3D6D8A07282}"/>
              </a:ext>
            </a:extLst>
          </p:cNvPr>
          <p:cNvSpPr>
            <a:spLocks noGrp="1"/>
          </p:cNvSpPr>
          <p:nvPr>
            <p:ph type="body" idx="1"/>
          </p:nvPr>
        </p:nvSpPr>
        <p:spPr/>
        <p:txBody>
          <a:bodyPr/>
          <a:lstStyle/>
          <a:p>
            <a:endParaRPr lang="vi-V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5FC125E-8F23-A3D3-F148-4E17A0FBA468}"/>
              </a:ext>
            </a:extLst>
          </p:cNvPr>
          <p:cNvSpPr>
            <a:spLocks noGrp="1"/>
          </p:cNvSpPr>
          <p:nvPr>
            <p:ph type="sldNum" sz="quarter" idx="5"/>
          </p:nvPr>
        </p:nvSpPr>
        <p:spPr/>
        <p:txBody>
          <a:bodyPr/>
          <a:lstStyle/>
          <a:p>
            <a:fld id="{7C655621-BB3A-4FD8-9F2D-99DAB64DC017}" type="slidenum">
              <a:rPr lang="en-US" smtClean="0"/>
              <a:t>10</a:t>
            </a:fld>
            <a:endParaRPr lang="en-US"/>
          </a:p>
        </p:txBody>
      </p:sp>
    </p:spTree>
    <p:extLst>
      <p:ext uri="{BB962C8B-B14F-4D97-AF65-F5344CB8AC3E}">
        <p14:creationId xmlns:p14="http://schemas.microsoft.com/office/powerpoint/2010/main" val="1097380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Để đảm bảo hệ thống vận hành ổn định, em đã thực hiện kiểm thử thủ công trên các trình duyệt phổ biến như </a:t>
            </a:r>
            <a:r>
              <a:rPr lang="vi-VN" dirty="0" err="1"/>
              <a:t>Chrome</a:t>
            </a:r>
            <a:r>
              <a:rPr lang="vi-VN" dirty="0"/>
              <a:t> và </a:t>
            </a:r>
            <a:r>
              <a:rPr lang="vi-VN" dirty="0" err="1"/>
              <a:t>Edge</a:t>
            </a:r>
            <a:r>
              <a:rPr lang="vi-VN" dirty="0"/>
              <a:t>. Em tập trung kiểm thử 3 phân hệ chính: Dự toán trả góp, Mua xe với AI và Quản lý xe.</a:t>
            </a:r>
          </a:p>
        </p:txBody>
      </p:sp>
      <p:sp>
        <p:nvSpPr>
          <p:cNvPr id="4" name="Slide Number Placeholder 3"/>
          <p:cNvSpPr>
            <a:spLocks noGrp="1"/>
          </p:cNvSpPr>
          <p:nvPr>
            <p:ph type="sldNum" sz="quarter" idx="5"/>
          </p:nvPr>
        </p:nvSpPr>
        <p:spPr/>
        <p:txBody>
          <a:bodyPr/>
          <a:lstStyle/>
          <a:p>
            <a:fld id="{7C655621-BB3A-4FD8-9F2D-99DAB64DC017}" type="slidenum">
              <a:rPr lang="en-US" smtClean="0"/>
              <a:t>11</a:t>
            </a:fld>
            <a:endParaRPr lang="en-US"/>
          </a:p>
        </p:txBody>
      </p:sp>
    </p:spTree>
    <p:extLst>
      <p:ext uri="{BB962C8B-B14F-4D97-AF65-F5344CB8AC3E}">
        <p14:creationId xmlns:p14="http://schemas.microsoft.com/office/powerpoint/2010/main" val="10912805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Với 22 kịch bản kịch bản ,tỷ lệ vượt qua đạt hơn 68%. Một số lỗi chủ yếu nằm ở phần quản lý xe và giao diện, điều này giúp em có thêm dữ liệu để tối ưu hóa mã nguồn trong các phiên bản sau.</a:t>
            </a:r>
          </a:p>
        </p:txBody>
      </p:sp>
      <p:sp>
        <p:nvSpPr>
          <p:cNvPr id="4" name="Slide Number Placeholder 3"/>
          <p:cNvSpPr>
            <a:spLocks noGrp="1"/>
          </p:cNvSpPr>
          <p:nvPr>
            <p:ph type="sldNum" sz="quarter" idx="5"/>
          </p:nvPr>
        </p:nvSpPr>
        <p:spPr/>
        <p:txBody>
          <a:bodyPr/>
          <a:lstStyle/>
          <a:p>
            <a:fld id="{7C655621-BB3A-4FD8-9F2D-99DAB64DC017}" type="slidenum">
              <a:rPr lang="en-US" smtClean="0"/>
              <a:t>12</a:t>
            </a:fld>
            <a:endParaRPr lang="en-US"/>
          </a:p>
        </p:txBody>
      </p:sp>
    </p:spTree>
    <p:extLst>
      <p:ext uri="{BB962C8B-B14F-4D97-AF65-F5344CB8AC3E}">
        <p14:creationId xmlns:p14="http://schemas.microsoft.com/office/powerpoint/2010/main" val="39904585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7C655621-BB3A-4FD8-9F2D-99DAB64DC017}" type="slidenum">
              <a:rPr lang="en-US" smtClean="0"/>
              <a:t>13</a:t>
            </a:fld>
            <a:endParaRPr lang="en-US"/>
          </a:p>
        </p:txBody>
      </p:sp>
    </p:spTree>
    <p:extLst>
      <p:ext uri="{BB962C8B-B14F-4D97-AF65-F5344CB8AC3E}">
        <p14:creationId xmlns:p14="http://schemas.microsoft.com/office/powerpoint/2010/main" val="1019931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Sau thời gian nghiên cứu, em đã xây dựng thành công hệ thống thương mại ô tô trực tuyến tích hợp AI, tự động hóa được quy trình từ tư vấn đến đặt cọc. Tuy nhiên, hệ thống vẫn còn một số hạn chế như: Mô hình AI hiện tại vẫn dựa trên dữ liệu tĩnh và tính pháp lý của hợp đồng điện tử cần được nâng cấp để khép kín tuyệt đối.</a:t>
            </a:r>
          </a:p>
          <a:p>
            <a:endParaRPr lang="vi-VN" sz="1200" kern="1200" dirty="0">
              <a:solidFill>
                <a:schemeClr val="tx1"/>
              </a:solidFill>
              <a:effectLst/>
              <a:latin typeface="+mn-lt"/>
              <a:ea typeface="+mn-ea"/>
              <a:cs typeface="+mn-cs"/>
            </a:endParaRPr>
          </a:p>
          <a:p>
            <a:r>
              <a:rPr lang="vi-VN" dirty="0"/>
              <a:t>Trong tương lai, em dự kiến sẽ nâng cấp công nghệ lõi lên các mô hình </a:t>
            </a:r>
            <a:r>
              <a:rPr lang="vi-VN" dirty="0" err="1"/>
              <a:t>Generative</a:t>
            </a:r>
            <a:r>
              <a:rPr lang="vi-VN" dirty="0"/>
              <a:t> AI để trợ lý ảo có thể tương tác tự nhiên hơn và cá nhân hóa sâu sắc hơn cho từng khách hàng.</a:t>
            </a:r>
            <a:endParaRPr lang="vi-VN"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7C655621-BB3A-4FD8-9F2D-99DAB64DC017}" type="slidenum">
              <a:rPr lang="en-US" smtClean="0"/>
              <a:t>14</a:t>
            </a:fld>
            <a:endParaRPr lang="en-US"/>
          </a:p>
        </p:txBody>
      </p:sp>
    </p:spTree>
    <p:extLst>
      <p:ext uri="{BB962C8B-B14F-4D97-AF65-F5344CB8AC3E}">
        <p14:creationId xmlns:p14="http://schemas.microsoft.com/office/powerpoint/2010/main" val="34321677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latin typeface="Cambria" panose="02040503050406030204" pitchFamily="18" charset="0"/>
                <a:ea typeface="Cambria" panose="02040503050406030204" pitchFamily="18" charset="0"/>
              </a:rPr>
              <a:t>Vừa</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rồi</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là</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phần</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báo</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cáo</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đồ</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án</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tốt</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nghiệp</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của</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em</a:t>
            </a:r>
            <a:r>
              <a:rPr lang="en-US" sz="1200" dirty="0">
                <a:latin typeface="Cambria" panose="02040503050406030204" pitchFamily="18" charset="0"/>
                <a:ea typeface="Cambria" panose="02040503050406030204" pitchFamily="18" charset="0"/>
              </a:rPr>
              <a:t>, do </a:t>
            </a:r>
            <a:r>
              <a:rPr lang="en-US" sz="1200" dirty="0" err="1">
                <a:latin typeface="Cambria" panose="02040503050406030204" pitchFamily="18" charset="0"/>
                <a:ea typeface="Cambria" panose="02040503050406030204" pitchFamily="18" charset="0"/>
              </a:rPr>
              <a:t>giới</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hạn</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mặt</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thời</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gian</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cũng</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như</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mặt</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kiến</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thức</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trong</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khi</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làm</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đồ</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án</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còn</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hạn</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chế</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không</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tránh</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khỏi</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những</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sai</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xót</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em</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rất</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mong</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nhận</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đc</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sự</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góp</a:t>
            </a:r>
            <a:r>
              <a:rPr lang="en-US" sz="1200" dirty="0">
                <a:latin typeface="Cambria" panose="02040503050406030204" pitchFamily="18" charset="0"/>
                <a:ea typeface="Cambria" panose="02040503050406030204" pitchFamily="18" charset="0"/>
              </a:rPr>
              <a:t> ý </a:t>
            </a:r>
            <a:r>
              <a:rPr lang="en-US" sz="1200" dirty="0" err="1">
                <a:latin typeface="Cambria" panose="02040503050406030204" pitchFamily="18" charset="0"/>
                <a:ea typeface="Cambria" panose="02040503050406030204" pitchFamily="18" charset="0"/>
              </a:rPr>
              <a:t>từ</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các</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thầy</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cô</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để</a:t>
            </a:r>
            <a:r>
              <a:rPr lang="en-US" sz="1200" dirty="0">
                <a:latin typeface="Cambria" panose="02040503050406030204" pitchFamily="18" charset="0"/>
                <a:ea typeface="Cambria" panose="02040503050406030204" pitchFamily="18" charset="0"/>
              </a:rPr>
              <a:t> e </a:t>
            </a:r>
            <a:r>
              <a:rPr lang="en-US" sz="1200" dirty="0" err="1">
                <a:latin typeface="Cambria" panose="02040503050406030204" pitchFamily="18" charset="0"/>
                <a:ea typeface="Cambria" panose="02040503050406030204" pitchFamily="18" charset="0"/>
              </a:rPr>
              <a:t>hoàn</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thiện</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đồ</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án</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của</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mình</a:t>
            </a:r>
            <a:r>
              <a:rPr lang="en-US" sz="1200" dirty="0">
                <a:latin typeface="Cambria" panose="02040503050406030204" pitchFamily="18" charset="0"/>
                <a:ea typeface="Cambria" panose="02040503050406030204" pitchFamily="18" charset="0"/>
              </a:rPr>
              <a:t> 1 </a:t>
            </a:r>
            <a:r>
              <a:rPr lang="en-US" sz="1200" dirty="0" err="1">
                <a:latin typeface="Cambria" panose="02040503050406030204" pitchFamily="18" charset="0"/>
                <a:ea typeface="Cambria" panose="02040503050406030204" pitchFamily="18" charset="0"/>
              </a:rPr>
              <a:t>cách</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tốt</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hơn</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Một</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lần</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nữa</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xin</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chân</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thành</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cảm</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ơn</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thầy</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cô</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và</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các</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bạn</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đã</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lắng</a:t>
            </a:r>
            <a:r>
              <a:rPr lang="en-US" sz="1200" dirty="0">
                <a:latin typeface="Cambria" panose="02040503050406030204" pitchFamily="18" charset="0"/>
                <a:ea typeface="Cambria" panose="02040503050406030204" pitchFamily="18" charset="0"/>
              </a:rPr>
              <a:t> </a:t>
            </a:r>
            <a:r>
              <a:rPr lang="en-US" sz="1200" dirty="0" err="1">
                <a:latin typeface="Cambria" panose="02040503050406030204" pitchFamily="18" charset="0"/>
                <a:ea typeface="Cambria" panose="02040503050406030204" pitchFamily="18" charset="0"/>
              </a:rPr>
              <a:t>nghe</a:t>
            </a:r>
            <a:r>
              <a:rPr lang="en-US" sz="1200" dirty="0">
                <a:latin typeface="Cambria" panose="02040503050406030204" pitchFamily="18" charset="0"/>
                <a:ea typeface="Cambria" panose="02040503050406030204" pitchFamily="18" charset="0"/>
              </a:rPr>
              <a:t> </a:t>
            </a:r>
          </a:p>
          <a:p>
            <a:endParaRPr lang="vi-VN"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7C655621-BB3A-4FD8-9F2D-99DAB64DC017}" type="slidenum">
              <a:rPr lang="en-US" smtClean="0"/>
              <a:t>15</a:t>
            </a:fld>
            <a:endParaRPr lang="en-US"/>
          </a:p>
        </p:txBody>
      </p:sp>
    </p:spTree>
    <p:extLst>
      <p:ext uri="{BB962C8B-B14F-4D97-AF65-F5344CB8AC3E}">
        <p14:creationId xmlns:p14="http://schemas.microsoft.com/office/powerpoint/2010/main" val="28544034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noProof="0" dirty="0"/>
          </a:p>
        </p:txBody>
      </p:sp>
      <p:sp>
        <p:nvSpPr>
          <p:cNvPr id="3" name="TextBox 3"/>
          <p:cNvSpPr txBox="1"/>
          <p:nvPr/>
        </p:nvSpPr>
        <p:spPr>
          <a:xfrm>
            <a:off x="3540990" y="2075543"/>
            <a:ext cx="11129822" cy="1019638"/>
          </a:xfrm>
          <a:prstGeom prst="rect">
            <a:avLst/>
          </a:prstGeom>
        </p:spPr>
        <p:txBody>
          <a:bodyPr wrap="square" lIns="0" tIns="0" rIns="0" bIns="0" rtlCol="0" anchor="t">
            <a:spAutoFit/>
          </a:bodyPr>
          <a:lstStyle/>
          <a:p>
            <a:pPr algn="l">
              <a:lnSpc>
                <a:spcPts val="8640"/>
              </a:lnSpc>
            </a:pPr>
            <a:r>
              <a:rPr lang="vi-VN" sz="6600" b="1" noProof="0" dirty="0">
                <a:solidFill>
                  <a:srgbClr val="16458C"/>
                </a:solidFill>
                <a:latin typeface="Cambria" panose="02040503050406030204" pitchFamily="18" charset="0"/>
                <a:ea typeface="Cambria" panose="02040503050406030204" pitchFamily="18" charset="0"/>
                <a:cs typeface="Cambria Bold"/>
                <a:sym typeface="Cambria Bold"/>
              </a:rPr>
              <a:t>BÁO CÁO ĐỒ ÁN TỐT NGHIỆP</a:t>
            </a:r>
          </a:p>
        </p:txBody>
      </p:sp>
      <p:sp>
        <p:nvSpPr>
          <p:cNvPr id="4" name="TextBox 4"/>
          <p:cNvSpPr txBox="1"/>
          <p:nvPr/>
        </p:nvSpPr>
        <p:spPr>
          <a:xfrm>
            <a:off x="1409700" y="3701887"/>
            <a:ext cx="15468600" cy="1441613"/>
          </a:xfrm>
          <a:prstGeom prst="rect">
            <a:avLst/>
          </a:prstGeom>
        </p:spPr>
        <p:txBody>
          <a:bodyPr wrap="square" lIns="0" tIns="0" rIns="0" bIns="0" rtlCol="0" anchor="t">
            <a:spAutoFit/>
          </a:bodyPr>
          <a:lstStyle/>
          <a:p>
            <a:pPr algn="ctr">
              <a:lnSpc>
                <a:spcPts val="5759"/>
              </a:lnSpc>
            </a:pPr>
            <a:r>
              <a:rPr lang="vi-VN" sz="4800" b="1" noProof="0" dirty="0">
                <a:solidFill>
                  <a:srgbClr val="FCB618"/>
                </a:solidFill>
                <a:latin typeface="Cambria" panose="02040503050406030204" pitchFamily="18" charset="0"/>
                <a:ea typeface="Cambria" panose="02040503050406030204" pitchFamily="18" charset="0"/>
                <a:cs typeface="Cambria Bold"/>
                <a:sym typeface="Cambria Bold"/>
              </a:rPr>
              <a:t>XÂY DỰNG </a:t>
            </a:r>
            <a:r>
              <a:rPr lang="en-US" sz="4800" b="1" noProof="0" dirty="0">
                <a:solidFill>
                  <a:srgbClr val="FCB618"/>
                </a:solidFill>
                <a:latin typeface="Cambria" panose="02040503050406030204" pitchFamily="18" charset="0"/>
                <a:ea typeface="Cambria" panose="02040503050406030204" pitchFamily="18" charset="0"/>
                <a:cs typeface="Cambria Bold"/>
                <a:sym typeface="Cambria Bold"/>
              </a:rPr>
              <a:t>HỆ THỐNG GỢI Ý VÀ HỖ TRỢ LỰA CHỌN        Ô TÔ TRỰC TUYẾN ỨNG DỤNG HỌC MÁY</a:t>
            </a:r>
            <a:endParaRPr lang="vi-VN" sz="4800" b="1" noProof="0" dirty="0">
              <a:solidFill>
                <a:srgbClr val="FCB618"/>
              </a:solidFill>
              <a:latin typeface="Cambria" panose="02040503050406030204" pitchFamily="18" charset="0"/>
              <a:ea typeface="Cambria" panose="02040503050406030204" pitchFamily="18" charset="0"/>
              <a:cs typeface="Cambria Bold"/>
              <a:sym typeface="Cambria Bold"/>
            </a:endParaRPr>
          </a:p>
        </p:txBody>
      </p:sp>
      <p:graphicFrame>
        <p:nvGraphicFramePr>
          <p:cNvPr id="5" name="Table 5"/>
          <p:cNvGraphicFramePr>
            <a:graphicFrameLocks noGrp="1"/>
          </p:cNvGraphicFramePr>
          <p:nvPr>
            <p:extLst>
              <p:ext uri="{D42A27DB-BD31-4B8C-83A1-F6EECF244321}">
                <p14:modId xmlns:p14="http://schemas.microsoft.com/office/powerpoint/2010/main" val="2947694547"/>
              </p:ext>
            </p:extLst>
          </p:nvPr>
        </p:nvGraphicFramePr>
        <p:xfrm>
          <a:off x="4800600" y="5905500"/>
          <a:ext cx="8222766" cy="2560320"/>
        </p:xfrm>
        <a:graphic>
          <a:graphicData uri="http://schemas.openxmlformats.org/drawingml/2006/table">
            <a:tbl>
              <a:tblPr/>
              <a:tblGrid>
                <a:gridCol w="4197501">
                  <a:extLst>
                    <a:ext uri="{9D8B030D-6E8A-4147-A177-3AD203B41FA5}">
                      <a16:colId xmlns:a16="http://schemas.microsoft.com/office/drawing/2014/main" val="20000"/>
                    </a:ext>
                  </a:extLst>
                </a:gridCol>
                <a:gridCol w="4025265">
                  <a:extLst>
                    <a:ext uri="{9D8B030D-6E8A-4147-A177-3AD203B41FA5}">
                      <a16:colId xmlns:a16="http://schemas.microsoft.com/office/drawing/2014/main" val="20001"/>
                    </a:ext>
                  </a:extLst>
                </a:gridCol>
              </a:tblGrid>
              <a:tr h="552450">
                <a:tc>
                  <a:txBody>
                    <a:bodyPr/>
                    <a:lstStyle/>
                    <a:p>
                      <a:pPr algn="l">
                        <a:lnSpc>
                          <a:spcPts val="3600"/>
                        </a:lnSpc>
                        <a:defRPr/>
                      </a:pPr>
                      <a:r>
                        <a:rPr lang="vi-VN" sz="3000" noProof="0" dirty="0">
                          <a:solidFill>
                            <a:schemeClr val="tx2">
                              <a:lumMod val="50000"/>
                            </a:schemeClr>
                          </a:solidFill>
                          <a:latin typeface="Cambria" panose="02040503050406030204" pitchFamily="18" charset="0"/>
                          <a:ea typeface="Cambria" panose="02040503050406030204" pitchFamily="18" charset="0"/>
                          <a:cs typeface="Aptos"/>
                          <a:sym typeface="Aptos"/>
                        </a:rPr>
                        <a:t>Giảng viên hướng dẫn</a:t>
                      </a:r>
                      <a:endParaRPr lang="vi-VN" sz="1100" noProof="0" dirty="0">
                        <a:solidFill>
                          <a:schemeClr val="tx2">
                            <a:lumMod val="50000"/>
                          </a:schemeClr>
                        </a:solidFill>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ts val="3600"/>
                        </a:lnSpc>
                        <a:defRPr/>
                      </a:pPr>
                      <a:r>
                        <a:rPr lang="vi-VN" sz="3000" noProof="0" dirty="0">
                          <a:solidFill>
                            <a:schemeClr val="tx2">
                              <a:lumMod val="50000"/>
                            </a:schemeClr>
                          </a:solidFill>
                          <a:latin typeface="Cambria" panose="02040503050406030204" pitchFamily="18" charset="0"/>
                          <a:ea typeface="Cambria" panose="02040503050406030204" pitchFamily="18" charset="0"/>
                          <a:cs typeface="Aptos"/>
                          <a:sym typeface="Aptos"/>
                        </a:rPr>
                        <a:t> TS. </a:t>
                      </a:r>
                      <a:r>
                        <a:rPr lang="vi-VN" sz="3000" noProof="1">
                          <a:solidFill>
                            <a:schemeClr val="tx2">
                              <a:lumMod val="50000"/>
                            </a:schemeClr>
                          </a:solidFill>
                          <a:latin typeface="Cambria" panose="02040503050406030204" pitchFamily="18" charset="0"/>
                          <a:ea typeface="Cambria" panose="02040503050406030204" pitchFamily="18" charset="0"/>
                          <a:cs typeface="Aptos"/>
                          <a:sym typeface="Aptos"/>
                        </a:rPr>
                        <a:t>Nguyễn</a:t>
                      </a:r>
                      <a:r>
                        <a:rPr lang="en-US" sz="3000" noProof="0" dirty="0">
                          <a:solidFill>
                            <a:schemeClr val="tx2">
                              <a:lumMod val="50000"/>
                            </a:schemeClr>
                          </a:solidFill>
                          <a:latin typeface="Cambria" panose="02040503050406030204" pitchFamily="18" charset="0"/>
                          <a:ea typeface="Cambria" panose="02040503050406030204" pitchFamily="18" charset="0"/>
                          <a:cs typeface="Aptos"/>
                          <a:sym typeface="Aptos"/>
                        </a:rPr>
                        <a:t> </a:t>
                      </a:r>
                      <a:r>
                        <a:rPr lang="vi-VN" sz="3000" noProof="1">
                          <a:solidFill>
                            <a:schemeClr val="tx2">
                              <a:lumMod val="50000"/>
                            </a:schemeClr>
                          </a:solidFill>
                          <a:latin typeface="Cambria" panose="02040503050406030204" pitchFamily="18" charset="0"/>
                          <a:ea typeface="Cambria" panose="02040503050406030204" pitchFamily="18" charset="0"/>
                          <a:cs typeface="Aptos"/>
                          <a:sym typeface="Aptos"/>
                        </a:rPr>
                        <a:t>Ngọc Khải</a:t>
                      </a:r>
                      <a:endParaRPr lang="vi-VN" sz="1100" noProof="1">
                        <a:solidFill>
                          <a:schemeClr val="tx2">
                            <a:lumMod val="50000"/>
                          </a:schemeClr>
                        </a:solidFill>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52450">
                <a:tc>
                  <a:txBody>
                    <a:bodyPr/>
                    <a:lstStyle/>
                    <a:p>
                      <a:pPr algn="l">
                        <a:lnSpc>
                          <a:spcPts val="3600"/>
                        </a:lnSpc>
                        <a:defRPr/>
                      </a:pPr>
                      <a:r>
                        <a:rPr lang="vi-VN" sz="3000" noProof="0" dirty="0">
                          <a:solidFill>
                            <a:schemeClr val="tx2">
                              <a:lumMod val="50000"/>
                            </a:schemeClr>
                          </a:solidFill>
                          <a:latin typeface="Cambria" panose="02040503050406030204" pitchFamily="18" charset="0"/>
                          <a:ea typeface="Cambria" panose="02040503050406030204" pitchFamily="18" charset="0"/>
                          <a:cs typeface="Aptos"/>
                          <a:sym typeface="Aptos"/>
                        </a:rPr>
                        <a:t>Sinh viên</a:t>
                      </a:r>
                      <a:endParaRPr lang="vi-VN" sz="1100" noProof="0" dirty="0">
                        <a:solidFill>
                          <a:schemeClr val="tx2">
                            <a:lumMod val="50000"/>
                          </a:schemeClr>
                        </a:solidFill>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ts val="3600"/>
                        </a:lnSpc>
                        <a:defRPr/>
                      </a:pPr>
                      <a:r>
                        <a:rPr lang="vi-VN" sz="3000" noProof="0" dirty="0">
                          <a:solidFill>
                            <a:schemeClr val="tx2">
                              <a:lumMod val="50000"/>
                            </a:schemeClr>
                          </a:solidFill>
                          <a:latin typeface="Cambria" panose="02040503050406030204" pitchFamily="18" charset="0"/>
                          <a:ea typeface="Cambria" panose="02040503050406030204" pitchFamily="18" charset="0"/>
                          <a:cs typeface="Aptos"/>
                          <a:sym typeface="Aptos"/>
                        </a:rPr>
                        <a:t> Lê Xuân Kiên</a:t>
                      </a:r>
                      <a:endParaRPr lang="vi-VN" sz="1100" noProof="0" dirty="0">
                        <a:solidFill>
                          <a:schemeClr val="tx2">
                            <a:lumMod val="50000"/>
                          </a:schemeClr>
                        </a:solidFill>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2450">
                <a:tc>
                  <a:txBody>
                    <a:bodyPr/>
                    <a:lstStyle/>
                    <a:p>
                      <a:pPr algn="l">
                        <a:lnSpc>
                          <a:spcPts val="3600"/>
                        </a:lnSpc>
                        <a:defRPr/>
                      </a:pPr>
                      <a:r>
                        <a:rPr lang="vi-VN" sz="3000" noProof="0" dirty="0">
                          <a:solidFill>
                            <a:schemeClr val="tx2">
                              <a:lumMod val="50000"/>
                            </a:schemeClr>
                          </a:solidFill>
                          <a:latin typeface="Cambria" panose="02040503050406030204" pitchFamily="18" charset="0"/>
                          <a:ea typeface="Cambria" panose="02040503050406030204" pitchFamily="18" charset="0"/>
                          <a:cs typeface="Aptos"/>
                          <a:sym typeface="Aptos"/>
                        </a:rPr>
                        <a:t>Lớp chuyên ngành</a:t>
                      </a:r>
                      <a:endParaRPr lang="vi-VN" sz="1100" noProof="0" dirty="0">
                        <a:solidFill>
                          <a:schemeClr val="tx2">
                            <a:lumMod val="50000"/>
                          </a:schemeClr>
                        </a:solidFill>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ts val="3600"/>
                        </a:lnSpc>
                        <a:defRPr/>
                      </a:pPr>
                      <a:r>
                        <a:rPr lang="vi-VN" sz="3000" noProof="0" dirty="0">
                          <a:solidFill>
                            <a:schemeClr val="tx2">
                              <a:lumMod val="50000"/>
                            </a:schemeClr>
                          </a:solidFill>
                          <a:latin typeface="Cambria" panose="02040503050406030204" pitchFamily="18" charset="0"/>
                          <a:ea typeface="Cambria" panose="02040503050406030204" pitchFamily="18" charset="0"/>
                          <a:cs typeface="Aptos"/>
                          <a:sym typeface="Aptos"/>
                        </a:rPr>
                        <a:t> KTPM03</a:t>
                      </a:r>
                      <a:endParaRPr lang="vi-VN" sz="1100" noProof="0" dirty="0">
                        <a:solidFill>
                          <a:schemeClr val="tx2">
                            <a:lumMod val="50000"/>
                          </a:schemeClr>
                        </a:solidFill>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2450">
                <a:tc>
                  <a:txBody>
                    <a:bodyPr/>
                    <a:lstStyle/>
                    <a:p>
                      <a:pPr algn="l">
                        <a:lnSpc>
                          <a:spcPts val="3600"/>
                        </a:lnSpc>
                        <a:defRPr/>
                      </a:pPr>
                      <a:r>
                        <a:rPr lang="vi-VN" sz="3000" noProof="0" dirty="0">
                          <a:solidFill>
                            <a:schemeClr val="tx2">
                              <a:lumMod val="50000"/>
                            </a:schemeClr>
                          </a:solidFill>
                          <a:latin typeface="Cambria" panose="02040503050406030204" pitchFamily="18" charset="0"/>
                          <a:ea typeface="Cambria" panose="02040503050406030204" pitchFamily="18" charset="0"/>
                          <a:cs typeface="Aptos"/>
                          <a:sym typeface="Aptos"/>
                        </a:rPr>
                        <a:t>Khóa</a:t>
                      </a:r>
                      <a:endParaRPr lang="vi-VN" sz="1100" noProof="0" dirty="0">
                        <a:solidFill>
                          <a:schemeClr val="tx2">
                            <a:lumMod val="50000"/>
                          </a:schemeClr>
                        </a:solidFill>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ts val="3600"/>
                        </a:lnSpc>
                        <a:defRPr/>
                      </a:pPr>
                      <a:r>
                        <a:rPr lang="vi-VN" sz="3000" noProof="0" dirty="0">
                          <a:solidFill>
                            <a:schemeClr val="tx2">
                              <a:lumMod val="50000"/>
                            </a:schemeClr>
                          </a:solidFill>
                          <a:latin typeface="Cambria" panose="02040503050406030204" pitchFamily="18" charset="0"/>
                          <a:ea typeface="Cambria" panose="02040503050406030204" pitchFamily="18" charset="0"/>
                          <a:cs typeface="Aptos"/>
                          <a:sym typeface="Aptos"/>
                        </a:rPr>
                        <a:t> 17</a:t>
                      </a:r>
                      <a:endParaRPr lang="vi-VN" sz="1100" noProof="0" dirty="0">
                        <a:solidFill>
                          <a:schemeClr val="tx2">
                            <a:lumMod val="50000"/>
                          </a:schemeClr>
                        </a:solidFill>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dirty="0">
              <a:latin typeface="Arial" panose="020B0604020202020204" pitchFamily="34" charset="0"/>
              <a:ea typeface="Cambria" panose="02040503050406030204" pitchFamily="18" charset="0"/>
              <a:cs typeface="Arial" panose="020B0604020202020204" pitchFamily="34" charset="0"/>
            </a:endParaRPr>
          </a:p>
        </p:txBody>
      </p:sp>
      <p:sp>
        <p:nvSpPr>
          <p:cNvPr id="3" name="TextBox 3"/>
          <p:cNvSpPr txBox="1"/>
          <p:nvPr/>
        </p:nvSpPr>
        <p:spPr>
          <a:xfrm>
            <a:off x="1417756" y="2715440"/>
            <a:ext cx="4018499" cy="1013098"/>
          </a:xfrm>
          <a:prstGeom prst="rect">
            <a:avLst/>
          </a:prstGeom>
        </p:spPr>
        <p:txBody>
          <a:bodyPr wrap="square" lIns="0" tIns="0" rIns="0" bIns="0" rtlCol="0" anchor="t">
            <a:spAutoFit/>
          </a:bodyPr>
          <a:lstStyle/>
          <a:p>
            <a:pPr algn="l">
              <a:lnSpc>
                <a:spcPts val="7920"/>
              </a:lnSpc>
            </a:pPr>
            <a:r>
              <a:rPr lang="en-US" sz="7200" b="1" noProof="1">
                <a:solidFill>
                  <a:srgbClr val="16458C"/>
                </a:solidFill>
                <a:latin typeface="Arial" panose="020B0604020202020204" pitchFamily="34" charset="0"/>
                <a:ea typeface="Cambria" panose="02040503050406030204" pitchFamily="18" charset="0"/>
                <a:cs typeface="Arial" panose="020B0604020202020204" pitchFamily="34" charset="0"/>
                <a:sym typeface="Cambria Bold"/>
              </a:rPr>
              <a:t>Nội dung</a:t>
            </a:r>
          </a:p>
        </p:txBody>
      </p:sp>
      <p:sp>
        <p:nvSpPr>
          <p:cNvPr id="9" name="AutoShape 9"/>
          <p:cNvSpPr/>
          <p:nvPr/>
        </p:nvSpPr>
        <p:spPr>
          <a:xfrm>
            <a:off x="1451670" y="3816656"/>
            <a:ext cx="3653730" cy="31443"/>
          </a:xfrm>
          <a:prstGeom prst="line">
            <a:avLst/>
          </a:prstGeom>
          <a:ln w="47625" cap="rnd">
            <a:solidFill>
              <a:srgbClr val="FCB618"/>
            </a:solidFill>
            <a:prstDash val="solid"/>
            <a:headEnd type="none" w="sm" len="sm"/>
            <a:tailEnd type="none" w="sm" len="sm"/>
          </a:ln>
        </p:spPr>
        <p:txBody>
          <a:bodyPr/>
          <a:lstStyle/>
          <a:p>
            <a:endParaRPr lang="vi-VN">
              <a:latin typeface="Arial" panose="020B060402020202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id="{903B5DE5-C057-E5EB-F03A-B8F59E927955}"/>
              </a:ext>
            </a:extLst>
          </p:cNvPr>
          <p:cNvGrpSpPr/>
          <p:nvPr/>
        </p:nvGrpSpPr>
        <p:grpSpPr>
          <a:xfrm>
            <a:off x="6129347" y="2164184"/>
            <a:ext cx="10441327" cy="6529273"/>
            <a:chOff x="5729827" y="2159859"/>
            <a:chExt cx="10441327" cy="6198789"/>
          </a:xfrm>
        </p:grpSpPr>
        <p:sp>
          <p:nvSpPr>
            <p:cNvPr id="4" name="AutoShape 4"/>
            <p:cNvSpPr/>
            <p:nvPr/>
          </p:nvSpPr>
          <p:spPr>
            <a:xfrm rot="5356107">
              <a:off x="2880011" y="5241555"/>
              <a:ext cx="6198789" cy="35397"/>
            </a:xfrm>
            <a:prstGeom prst="line">
              <a:avLst/>
            </a:prstGeom>
            <a:ln w="47625" cap="rnd">
              <a:solidFill>
                <a:srgbClr val="FCB618"/>
              </a:solidFill>
              <a:prstDash val="solid"/>
              <a:headEnd type="none" w="sm" len="sm"/>
              <a:tailEnd type="none" w="sm" len="sm"/>
            </a:ln>
          </p:spPr>
          <p:txBody>
            <a:bodyPr/>
            <a:lstStyle/>
            <a:p>
              <a:endParaRPr lang="vi-VN">
                <a:latin typeface="Arial" panose="020B0604020202020204" pitchFamily="34" charset="0"/>
                <a:cs typeface="Arial" panose="020B0604020202020204" pitchFamily="34" charset="0"/>
              </a:endParaRPr>
            </a:p>
          </p:txBody>
        </p:sp>
        <p:sp>
          <p:nvSpPr>
            <p:cNvPr id="22" name="TextBox 22"/>
            <p:cNvSpPr txBox="1"/>
            <p:nvPr/>
          </p:nvSpPr>
          <p:spPr>
            <a:xfrm>
              <a:off x="6830478" y="2558189"/>
              <a:ext cx="7438557" cy="743219"/>
            </a:xfrm>
            <a:prstGeom prst="rect">
              <a:avLst/>
            </a:prstGeom>
          </p:spPr>
          <p:txBody>
            <a:bodyPr lIns="0" tIns="0" rIns="0" bIns="0" rtlCol="0" anchor="t">
              <a:spAutoFit/>
            </a:bodyPr>
            <a:lstStyle/>
            <a:p>
              <a:pPr algn="l">
                <a:lnSpc>
                  <a:spcPts val="6480"/>
                </a:lnSpc>
              </a:pPr>
              <a:endParaRPr lang="en-US" sz="4800" dirty="0">
                <a:solidFill>
                  <a:srgbClr val="16458C"/>
                </a:solidFill>
                <a:latin typeface="Arial" panose="020B0604020202020204" pitchFamily="34" charset="0"/>
                <a:ea typeface="Cambria" panose="02040503050406030204" pitchFamily="18" charset="0"/>
                <a:cs typeface="Arial" panose="020B0604020202020204" pitchFamily="34" charset="0"/>
                <a:sym typeface="Cambria"/>
              </a:endParaRPr>
            </a:p>
          </p:txBody>
        </p:sp>
        <p:sp>
          <p:nvSpPr>
            <p:cNvPr id="25" name="TextBox 25"/>
            <p:cNvSpPr txBox="1"/>
            <p:nvPr/>
          </p:nvSpPr>
          <p:spPr>
            <a:xfrm>
              <a:off x="6830478" y="4138982"/>
              <a:ext cx="9340676" cy="747784"/>
            </a:xfrm>
            <a:prstGeom prst="rect">
              <a:avLst/>
            </a:prstGeom>
          </p:spPr>
          <p:txBody>
            <a:bodyPr lIns="0" tIns="0" rIns="0" bIns="0" rtlCol="0" anchor="t">
              <a:spAutoFit/>
            </a:bodyPr>
            <a:lstStyle/>
            <a:p>
              <a:pPr algn="l">
                <a:lnSpc>
                  <a:spcPts val="6480"/>
                </a:lnSpc>
              </a:pPr>
              <a:endParaRPr lang="en-US" sz="4800" dirty="0">
                <a:solidFill>
                  <a:srgbClr val="16458C"/>
                </a:solidFill>
                <a:latin typeface="Arial" panose="020B0604020202020204" pitchFamily="34" charset="0"/>
                <a:ea typeface="Cambria" panose="02040503050406030204" pitchFamily="18" charset="0"/>
                <a:cs typeface="Arial" panose="020B0604020202020204" pitchFamily="34" charset="0"/>
                <a:sym typeface="Cambria"/>
              </a:endParaRPr>
            </a:p>
          </p:txBody>
        </p:sp>
        <p:sp>
          <p:nvSpPr>
            <p:cNvPr id="30" name="TextBox 30"/>
            <p:cNvSpPr txBox="1"/>
            <p:nvPr/>
          </p:nvSpPr>
          <p:spPr>
            <a:xfrm>
              <a:off x="6830478" y="5683946"/>
              <a:ext cx="8961120" cy="747784"/>
            </a:xfrm>
            <a:prstGeom prst="rect">
              <a:avLst/>
            </a:prstGeom>
          </p:spPr>
          <p:txBody>
            <a:bodyPr lIns="0" tIns="0" rIns="0" bIns="0" rtlCol="0" anchor="t">
              <a:spAutoFit/>
            </a:bodyPr>
            <a:lstStyle/>
            <a:p>
              <a:pPr algn="l">
                <a:lnSpc>
                  <a:spcPts val="6480"/>
                </a:lnSpc>
              </a:pPr>
              <a:endParaRPr lang="en-US" sz="4800" dirty="0">
                <a:solidFill>
                  <a:srgbClr val="16458C"/>
                </a:solidFill>
                <a:latin typeface="Arial" panose="020B0604020202020204" pitchFamily="34" charset="0"/>
                <a:ea typeface="Cambria" panose="02040503050406030204" pitchFamily="18" charset="0"/>
                <a:cs typeface="Arial" panose="020B0604020202020204" pitchFamily="34" charset="0"/>
                <a:sym typeface="Cambria"/>
              </a:endParaRPr>
            </a:p>
          </p:txBody>
        </p:sp>
        <p:sp>
          <p:nvSpPr>
            <p:cNvPr id="41" name="Oval 40">
              <a:extLst>
                <a:ext uri="{FF2B5EF4-FFF2-40B4-BE49-F238E27FC236}">
                  <a16:creationId xmlns:a16="http://schemas.microsoft.com/office/drawing/2014/main" id="{9A0D1426-C28A-B67A-30AA-CFC8992764CB}"/>
                </a:ext>
              </a:extLst>
            </p:cNvPr>
            <p:cNvSpPr/>
            <p:nvPr/>
          </p:nvSpPr>
          <p:spPr>
            <a:xfrm>
              <a:off x="5729827" y="2603598"/>
              <a:ext cx="511927" cy="526160"/>
            </a:xfrm>
            <a:prstGeom prst="ellipse">
              <a:avLst/>
            </a:prstGeom>
            <a:solidFill>
              <a:srgbClr val="16458C"/>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Cambria" panose="02040503050406030204" pitchFamily="18" charset="0"/>
                  <a:cs typeface="Arial" panose="020B0604020202020204" pitchFamily="34" charset="0"/>
                </a:rPr>
                <a:t>1</a:t>
              </a:r>
            </a:p>
          </p:txBody>
        </p:sp>
        <p:sp>
          <p:nvSpPr>
            <p:cNvPr id="43" name="Oval 42">
              <a:extLst>
                <a:ext uri="{FF2B5EF4-FFF2-40B4-BE49-F238E27FC236}">
                  <a16:creationId xmlns:a16="http://schemas.microsoft.com/office/drawing/2014/main" id="{1F853B29-E9A4-A88C-DB47-4FDF08D4A47E}"/>
                </a:ext>
              </a:extLst>
            </p:cNvPr>
            <p:cNvSpPr/>
            <p:nvPr/>
          </p:nvSpPr>
          <p:spPr>
            <a:xfrm>
              <a:off x="5729828" y="3855528"/>
              <a:ext cx="511927" cy="526160"/>
            </a:xfrm>
            <a:prstGeom prst="ellipse">
              <a:avLst/>
            </a:prstGeom>
            <a:solidFill>
              <a:srgbClr val="16458C"/>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Cambria" panose="02040503050406030204" pitchFamily="18" charset="0"/>
                  <a:cs typeface="Arial" panose="020B0604020202020204" pitchFamily="34" charset="0"/>
                </a:rPr>
                <a:t>2</a:t>
              </a:r>
            </a:p>
          </p:txBody>
        </p:sp>
        <p:sp>
          <p:nvSpPr>
            <p:cNvPr id="44" name="Oval 43">
              <a:extLst>
                <a:ext uri="{FF2B5EF4-FFF2-40B4-BE49-F238E27FC236}">
                  <a16:creationId xmlns:a16="http://schemas.microsoft.com/office/drawing/2014/main" id="{7ECCB37E-70AA-F024-37BB-02DC841FFCE5}"/>
                </a:ext>
              </a:extLst>
            </p:cNvPr>
            <p:cNvSpPr/>
            <p:nvPr/>
          </p:nvSpPr>
          <p:spPr>
            <a:xfrm>
              <a:off x="5729828" y="4959096"/>
              <a:ext cx="511927" cy="526160"/>
            </a:xfrm>
            <a:prstGeom prst="ellipse">
              <a:avLst/>
            </a:prstGeom>
            <a:solidFill>
              <a:srgbClr val="16458C"/>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Cambria" panose="02040503050406030204" pitchFamily="18" charset="0"/>
                  <a:cs typeface="Arial" panose="020B0604020202020204" pitchFamily="34" charset="0"/>
                </a:rPr>
                <a:t>3</a:t>
              </a:r>
            </a:p>
          </p:txBody>
        </p:sp>
        <p:sp>
          <p:nvSpPr>
            <p:cNvPr id="45" name="Oval 44">
              <a:extLst>
                <a:ext uri="{FF2B5EF4-FFF2-40B4-BE49-F238E27FC236}">
                  <a16:creationId xmlns:a16="http://schemas.microsoft.com/office/drawing/2014/main" id="{9115C874-227D-F9A7-CCCD-3F3D37A3C3A6}"/>
                </a:ext>
              </a:extLst>
            </p:cNvPr>
            <p:cNvSpPr/>
            <p:nvPr/>
          </p:nvSpPr>
          <p:spPr>
            <a:xfrm>
              <a:off x="5729829" y="6249516"/>
              <a:ext cx="511927" cy="526160"/>
            </a:xfrm>
            <a:prstGeom prst="ellipse">
              <a:avLst/>
            </a:prstGeom>
            <a:solidFill>
              <a:srgbClr val="16458C"/>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Cambria" panose="02040503050406030204" pitchFamily="18" charset="0"/>
                  <a:cs typeface="Arial" panose="020B0604020202020204" pitchFamily="34" charset="0"/>
                </a:rPr>
                <a:t>4</a:t>
              </a:r>
            </a:p>
          </p:txBody>
        </p:sp>
        <p:sp>
          <p:nvSpPr>
            <p:cNvPr id="6" name="TextBox 30">
              <a:extLst>
                <a:ext uri="{FF2B5EF4-FFF2-40B4-BE49-F238E27FC236}">
                  <a16:creationId xmlns:a16="http://schemas.microsoft.com/office/drawing/2014/main" id="{1A85E126-CEC1-FDD5-5552-0A9BAF3CC38F}"/>
                </a:ext>
              </a:extLst>
            </p:cNvPr>
            <p:cNvSpPr txBox="1"/>
            <p:nvPr/>
          </p:nvSpPr>
          <p:spPr>
            <a:xfrm>
              <a:off x="6830478" y="7216801"/>
              <a:ext cx="8961120" cy="747784"/>
            </a:xfrm>
            <a:prstGeom prst="rect">
              <a:avLst/>
            </a:prstGeom>
          </p:spPr>
          <p:txBody>
            <a:bodyPr lIns="0" tIns="0" rIns="0" bIns="0" rtlCol="0" anchor="t">
              <a:spAutoFit/>
            </a:bodyPr>
            <a:lstStyle/>
            <a:p>
              <a:pPr algn="l">
                <a:lnSpc>
                  <a:spcPts val="6480"/>
                </a:lnSpc>
              </a:pPr>
              <a:endParaRPr lang="en-US" sz="4800" dirty="0">
                <a:solidFill>
                  <a:srgbClr val="16458C"/>
                </a:solidFill>
                <a:latin typeface="Arial" panose="020B0604020202020204" pitchFamily="34" charset="0"/>
                <a:ea typeface="Cambria" panose="02040503050406030204" pitchFamily="18" charset="0"/>
                <a:cs typeface="Arial" panose="020B0604020202020204" pitchFamily="34" charset="0"/>
                <a:sym typeface="Cambria"/>
              </a:endParaRPr>
            </a:p>
          </p:txBody>
        </p:sp>
      </p:grpSp>
      <p:sp>
        <p:nvSpPr>
          <p:cNvPr id="5" name="Oval 4">
            <a:extLst>
              <a:ext uri="{FF2B5EF4-FFF2-40B4-BE49-F238E27FC236}">
                <a16:creationId xmlns:a16="http://schemas.microsoft.com/office/drawing/2014/main" id="{C0D3BA06-F792-794C-51A5-9A62F547FEDD}"/>
              </a:ext>
            </a:extLst>
          </p:cNvPr>
          <p:cNvSpPr/>
          <p:nvPr/>
        </p:nvSpPr>
        <p:spPr>
          <a:xfrm>
            <a:off x="6129349" y="7845670"/>
            <a:ext cx="511927" cy="554212"/>
          </a:xfrm>
          <a:prstGeom prst="ellipse">
            <a:avLst/>
          </a:prstGeom>
          <a:solidFill>
            <a:srgbClr val="16458C"/>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Cambria" panose="02040503050406030204" pitchFamily="18" charset="0"/>
                <a:cs typeface="Arial" panose="020B0604020202020204" pitchFamily="34" charset="0"/>
              </a:rPr>
              <a:t>5</a:t>
            </a:r>
          </a:p>
        </p:txBody>
      </p:sp>
      <p:sp>
        <p:nvSpPr>
          <p:cNvPr id="13" name="TextBox 12">
            <a:extLst>
              <a:ext uri="{FF2B5EF4-FFF2-40B4-BE49-F238E27FC236}">
                <a16:creationId xmlns:a16="http://schemas.microsoft.com/office/drawing/2014/main" id="{A77972C2-C359-5886-F915-4E84492FD10C}"/>
              </a:ext>
            </a:extLst>
          </p:cNvPr>
          <p:cNvSpPr txBox="1"/>
          <p:nvPr/>
        </p:nvSpPr>
        <p:spPr>
          <a:xfrm>
            <a:off x="7219652" y="3726971"/>
            <a:ext cx="10287000" cy="830997"/>
          </a:xfrm>
          <a:prstGeom prst="rect">
            <a:avLst/>
          </a:prstGeom>
          <a:noFill/>
        </p:spPr>
        <p:txBody>
          <a:bodyPr wrap="square" rtlCol="0">
            <a:spAutoFit/>
          </a:bodyPr>
          <a:lstStyle/>
          <a:p>
            <a:r>
              <a:rPr lang="vi-VN" sz="4800" i="0" dirty="0">
                <a:solidFill>
                  <a:srgbClr val="16458C"/>
                </a:solidFill>
                <a:effectLst/>
                <a:latin typeface="Arial" panose="020B0604020202020204" pitchFamily="34" charset="0"/>
                <a:ea typeface="Calibri" panose="020F0502020204030204" pitchFamily="34" charset="0"/>
                <a:cs typeface="Arial" panose="020B0604020202020204" pitchFamily="34" charset="0"/>
              </a:rPr>
              <a:t>Phân tích thiết kế hệ thống.</a:t>
            </a:r>
            <a:endParaRPr lang="vi-VN" sz="4800" dirty="0">
              <a:solidFill>
                <a:srgbClr val="16458C"/>
              </a:solidFill>
              <a:latin typeface="Arial" panose="020B0604020202020204" pitchFamily="34" charset="0"/>
              <a:ea typeface="Calibri" panose="020F050202020403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FCD9B85A-02AE-0132-3569-F8E3760C2E93}"/>
              </a:ext>
            </a:extLst>
          </p:cNvPr>
          <p:cNvSpPr txBox="1"/>
          <p:nvPr/>
        </p:nvSpPr>
        <p:spPr>
          <a:xfrm>
            <a:off x="7229998" y="4968630"/>
            <a:ext cx="8272243" cy="830997"/>
          </a:xfrm>
          <a:prstGeom prst="rect">
            <a:avLst/>
          </a:prstGeom>
          <a:noFill/>
        </p:spPr>
        <p:txBody>
          <a:bodyPr wrap="square" rtlCol="0">
            <a:spAutoFit/>
          </a:bodyPr>
          <a:lstStyle/>
          <a:p>
            <a:r>
              <a:rPr lang="vi-VN" sz="4800" i="0" dirty="0">
                <a:solidFill>
                  <a:srgbClr val="16458C"/>
                </a:solidFill>
                <a:effectLst/>
                <a:latin typeface="Arial" panose="020B0604020202020204" pitchFamily="34" charset="0"/>
                <a:ea typeface="Calibri" panose="020F0502020204030204" pitchFamily="34" charset="0"/>
                <a:cs typeface="Arial" panose="020B0604020202020204" pitchFamily="34" charset="0"/>
              </a:rPr>
              <a:t>Kiểm thử hệ thống.</a:t>
            </a:r>
            <a:endParaRPr lang="vi-VN" sz="4800" dirty="0">
              <a:solidFill>
                <a:srgbClr val="16458C"/>
              </a:solidFill>
              <a:latin typeface="Arial" panose="020B0604020202020204" pitchFamily="34" charset="0"/>
              <a:ea typeface="Calibri" panose="020F050202020403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1B47D5B9-F08F-4921-EBD5-1AF92D84B28D}"/>
              </a:ext>
            </a:extLst>
          </p:cNvPr>
          <p:cNvSpPr txBox="1"/>
          <p:nvPr/>
        </p:nvSpPr>
        <p:spPr>
          <a:xfrm>
            <a:off x="7229998" y="6281464"/>
            <a:ext cx="8647318" cy="830997"/>
          </a:xfrm>
          <a:prstGeom prst="rect">
            <a:avLst/>
          </a:prstGeom>
          <a:noFill/>
        </p:spPr>
        <p:txBody>
          <a:bodyPr wrap="square" rtlCol="0">
            <a:spAutoFit/>
          </a:bodyPr>
          <a:lstStyle/>
          <a:p>
            <a:r>
              <a:rPr lang="vi-VN" sz="4800" dirty="0">
                <a:solidFill>
                  <a:srgbClr val="16458C"/>
                </a:solidFill>
                <a:latin typeface="Arial" panose="020B0604020202020204" pitchFamily="34" charset="0"/>
                <a:cs typeface="Arial" panose="020B0604020202020204" pitchFamily="34" charset="0"/>
              </a:rPr>
              <a:t>Chạy thực nghiệm hệ thống.</a:t>
            </a:r>
          </a:p>
        </p:txBody>
      </p:sp>
      <p:sp>
        <p:nvSpPr>
          <p:cNvPr id="16" name="TextBox 15">
            <a:extLst>
              <a:ext uri="{FF2B5EF4-FFF2-40B4-BE49-F238E27FC236}">
                <a16:creationId xmlns:a16="http://schemas.microsoft.com/office/drawing/2014/main" id="{14CD200C-999F-2CA4-53A5-1B7F1BE711A2}"/>
              </a:ext>
            </a:extLst>
          </p:cNvPr>
          <p:cNvSpPr txBox="1"/>
          <p:nvPr/>
        </p:nvSpPr>
        <p:spPr>
          <a:xfrm>
            <a:off x="7219652" y="2400300"/>
            <a:ext cx="7063389" cy="879984"/>
          </a:xfrm>
          <a:prstGeom prst="rect">
            <a:avLst/>
          </a:prstGeom>
          <a:noFill/>
        </p:spPr>
        <p:txBody>
          <a:bodyPr wrap="square" rtlCol="0">
            <a:spAutoFit/>
          </a:bodyPr>
          <a:lstStyle/>
          <a:p>
            <a:pPr algn="l">
              <a:lnSpc>
                <a:spcPts val="6480"/>
              </a:lnSpc>
            </a:pPr>
            <a:r>
              <a:rPr lang="en-US" sz="4800" noProof="1">
                <a:solidFill>
                  <a:srgbClr val="16458C"/>
                </a:solidFill>
                <a:latin typeface="Arial" panose="020B0604020202020204" pitchFamily="34" charset="0"/>
                <a:ea typeface="Cambria" panose="02040503050406030204" pitchFamily="18" charset="0"/>
                <a:cs typeface="Arial" panose="020B0604020202020204" pitchFamily="34" charset="0"/>
                <a:sym typeface="Cambria"/>
              </a:rPr>
              <a:t>Đặt Vấn đề.</a:t>
            </a:r>
          </a:p>
        </p:txBody>
      </p:sp>
      <p:sp>
        <p:nvSpPr>
          <p:cNvPr id="17" name="TextBox 16">
            <a:extLst>
              <a:ext uri="{FF2B5EF4-FFF2-40B4-BE49-F238E27FC236}">
                <a16:creationId xmlns:a16="http://schemas.microsoft.com/office/drawing/2014/main" id="{5B0A786A-EA10-B5EE-AF8D-EB09DDFFC078}"/>
              </a:ext>
            </a:extLst>
          </p:cNvPr>
          <p:cNvSpPr txBox="1"/>
          <p:nvPr/>
        </p:nvSpPr>
        <p:spPr>
          <a:xfrm>
            <a:off x="7219652" y="7565185"/>
            <a:ext cx="8539597" cy="879984"/>
          </a:xfrm>
          <a:prstGeom prst="rect">
            <a:avLst/>
          </a:prstGeom>
          <a:noFill/>
        </p:spPr>
        <p:txBody>
          <a:bodyPr wrap="square" rtlCol="0">
            <a:spAutoFit/>
          </a:bodyPr>
          <a:lstStyle/>
          <a:p>
            <a:pPr algn="l">
              <a:lnSpc>
                <a:spcPts val="6480"/>
              </a:lnSpc>
            </a:pPr>
            <a:r>
              <a:rPr lang="en-US" sz="4800" noProof="1">
                <a:solidFill>
                  <a:srgbClr val="16458C"/>
                </a:solidFill>
                <a:latin typeface="Arial" panose="020B0604020202020204" pitchFamily="34" charset="0"/>
                <a:ea typeface="Cambria" panose="02040503050406030204" pitchFamily="18" charset="0"/>
                <a:cs typeface="Arial" panose="020B0604020202020204" pitchFamily="34" charset="0"/>
                <a:sym typeface="Cambria"/>
              </a:rPr>
              <a:t>Kết luận và Hướng phát triển.</a:t>
            </a:r>
          </a:p>
        </p:txBody>
      </p:sp>
    </p:spTree>
  </p:cSld>
  <p:clrMapOvr>
    <a:masterClrMapping/>
  </p:clrMapOvr>
  <mc:AlternateContent xmlns:mc="http://schemas.openxmlformats.org/markup-compatibility/2006" xmlns:p14="http://schemas.microsoft.com/office/powerpoint/2010/main">
    <mc:Choice Requires="p14">
      <p:transition spd="med">
        <p14:reveal/>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4063" y="18047"/>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dirty="0"/>
          </a:p>
        </p:txBody>
      </p:sp>
      <p:grpSp>
        <p:nvGrpSpPr>
          <p:cNvPr id="3" name="Group 3"/>
          <p:cNvGrpSpPr/>
          <p:nvPr/>
        </p:nvGrpSpPr>
        <p:grpSpPr>
          <a:xfrm>
            <a:off x="887945" y="1836230"/>
            <a:ext cx="853655" cy="972116"/>
            <a:chOff x="0" y="-205478"/>
            <a:chExt cx="1371600" cy="1615178"/>
          </a:xfrm>
        </p:grpSpPr>
        <p:sp>
          <p:nvSpPr>
            <p:cNvPr id="4" name="Freeform 4"/>
            <p:cNvSpPr/>
            <p:nvPr/>
          </p:nvSpPr>
          <p:spPr>
            <a:xfrm>
              <a:off x="0" y="0"/>
              <a:ext cx="1371600" cy="1409700"/>
            </a:xfrm>
            <a:custGeom>
              <a:avLst/>
              <a:gdLst/>
              <a:ahLst/>
              <a:cxnLst/>
              <a:rect l="l" t="t" r="r" b="b"/>
              <a:pathLst>
                <a:path w="1371600" h="1409700">
                  <a:moveTo>
                    <a:pt x="0" y="704850"/>
                  </a:moveTo>
                  <a:cubicBezTo>
                    <a:pt x="0" y="315595"/>
                    <a:pt x="307086" y="0"/>
                    <a:pt x="685800" y="0"/>
                  </a:cubicBezTo>
                  <a:cubicBezTo>
                    <a:pt x="1064514" y="0"/>
                    <a:pt x="1371600" y="315595"/>
                    <a:pt x="1371600" y="704850"/>
                  </a:cubicBezTo>
                  <a:cubicBezTo>
                    <a:pt x="1371600" y="1094105"/>
                    <a:pt x="1064514" y="1409700"/>
                    <a:pt x="685800" y="1409700"/>
                  </a:cubicBezTo>
                  <a:cubicBezTo>
                    <a:pt x="307086" y="1409700"/>
                    <a:pt x="0" y="1094105"/>
                    <a:pt x="0" y="704850"/>
                  </a:cubicBezTo>
                  <a:close/>
                </a:path>
              </a:pathLst>
            </a:custGeom>
            <a:solidFill>
              <a:srgbClr val="FCB618"/>
            </a:solidFill>
            <a:ln w="12700">
              <a:solidFill>
                <a:schemeClr val="bg1"/>
              </a:solidFill>
            </a:ln>
          </p:spPr>
          <p:txBody>
            <a:bodyPr/>
            <a:lstStyle/>
            <a:p>
              <a:endParaRPr lang="vi-VN" sz="4800"/>
            </a:p>
          </p:txBody>
        </p:sp>
        <p:sp>
          <p:nvSpPr>
            <p:cNvPr id="5" name="TextBox 5"/>
            <p:cNvSpPr txBox="1"/>
            <p:nvPr/>
          </p:nvSpPr>
          <p:spPr>
            <a:xfrm>
              <a:off x="76" y="-205478"/>
              <a:ext cx="1371524" cy="1428709"/>
            </a:xfrm>
            <a:prstGeom prst="rect">
              <a:avLst/>
            </a:prstGeom>
            <a:noFill/>
            <a:ln>
              <a:noFill/>
            </a:ln>
          </p:spPr>
          <p:style>
            <a:lnRef idx="0">
              <a:scrgbClr r="0" g="0" b="0"/>
            </a:lnRef>
            <a:fillRef idx="0">
              <a:scrgbClr r="0" g="0" b="0"/>
            </a:fillRef>
            <a:effectRef idx="0">
              <a:scrgbClr r="0" g="0" b="0"/>
            </a:effectRef>
            <a:fontRef idx="minor">
              <a:schemeClr val="accent6"/>
            </a:fontRef>
          </p:style>
          <p:txBody>
            <a:bodyPr lIns="50800" tIns="50800" rIns="50800" bIns="50800" rtlCol="0" anchor="ctr"/>
            <a:lstStyle/>
            <a:p>
              <a:pPr algn="ctr">
                <a:lnSpc>
                  <a:spcPts val="8640"/>
                </a:lnSpc>
              </a:pPr>
              <a:r>
                <a:rPr lang="en-US" sz="4400" b="1" dirty="0">
                  <a:solidFill>
                    <a:srgbClr val="FFFFFF"/>
                  </a:solidFill>
                  <a:ea typeface="Cambria" panose="02040503050406030204" pitchFamily="18" charset="0"/>
                  <a:cs typeface="Cambria Bold"/>
                  <a:sym typeface="Cambria Bold"/>
                </a:rPr>
                <a:t>1</a:t>
              </a:r>
            </a:p>
          </p:txBody>
        </p:sp>
      </p:grpSp>
      <p:sp>
        <p:nvSpPr>
          <p:cNvPr id="6" name="TextBox 6"/>
          <p:cNvSpPr txBox="1"/>
          <p:nvPr/>
        </p:nvSpPr>
        <p:spPr>
          <a:xfrm>
            <a:off x="2093635" y="1836230"/>
            <a:ext cx="7438557" cy="984821"/>
          </a:xfrm>
          <a:prstGeom prst="rect">
            <a:avLst/>
          </a:prstGeom>
        </p:spPr>
        <p:txBody>
          <a:bodyPr lIns="0" tIns="0" rIns="0" bIns="0" rtlCol="0" anchor="t">
            <a:spAutoFit/>
          </a:bodyPr>
          <a:lstStyle/>
          <a:p>
            <a:pPr algn="l">
              <a:lnSpc>
                <a:spcPts val="8640"/>
              </a:lnSpc>
            </a:pPr>
            <a:r>
              <a:rPr lang="vi-VN" sz="5400" b="1" noProof="1">
                <a:solidFill>
                  <a:srgbClr val="16458C"/>
                </a:solidFill>
                <a:ea typeface="Cambria" panose="02040503050406030204" pitchFamily="18" charset="0"/>
                <a:cs typeface="Cambria Bold"/>
                <a:sym typeface="Cambria Bold"/>
              </a:rPr>
              <a:t>Đặt vấn đề</a:t>
            </a:r>
          </a:p>
        </p:txBody>
      </p:sp>
      <p:cxnSp>
        <p:nvCxnSpPr>
          <p:cNvPr id="10" name="Straight Connector 9">
            <a:extLst>
              <a:ext uri="{FF2B5EF4-FFF2-40B4-BE49-F238E27FC236}">
                <a16:creationId xmlns:a16="http://schemas.microsoft.com/office/drawing/2014/main" id="{CA672E5A-0621-C8A7-C4FD-953F9986D6D7}"/>
              </a:ext>
            </a:extLst>
          </p:cNvPr>
          <p:cNvCxnSpPr>
            <a:cxnSpLocks/>
          </p:cNvCxnSpPr>
          <p:nvPr/>
        </p:nvCxnSpPr>
        <p:spPr>
          <a:xfrm flipH="1">
            <a:off x="1741600" y="4185719"/>
            <a:ext cx="5257800" cy="0"/>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79F0ABDA-DCB3-11E0-6098-594D83463C49}"/>
              </a:ext>
            </a:extLst>
          </p:cNvPr>
          <p:cNvSpPr txBox="1"/>
          <p:nvPr/>
        </p:nvSpPr>
        <p:spPr>
          <a:xfrm>
            <a:off x="338924" y="4329145"/>
            <a:ext cx="8109368" cy="3313664"/>
          </a:xfrm>
          <a:prstGeom prst="rect">
            <a:avLst/>
          </a:prstGeom>
          <a:noFill/>
        </p:spPr>
        <p:txBody>
          <a:bodyPr wrap="square" rtlCol="0">
            <a:spAutoFit/>
          </a:bodyPr>
          <a:lstStyle/>
          <a:p>
            <a:pPr marL="571500" indent="-571500">
              <a:lnSpc>
                <a:spcPct val="150000"/>
              </a:lnSpc>
              <a:buSzPct val="100000"/>
              <a:buFont typeface="Wingdings" panose="05000000000000000000" pitchFamily="2" charset="2"/>
              <a:buChar char="ü"/>
            </a:pPr>
            <a:r>
              <a:rPr lang="vi-VN" sz="3600" noProof="1">
                <a:solidFill>
                  <a:srgbClr val="1E293B"/>
                </a:solidFill>
                <a:latin typeface="Arial" panose="020B0604020202020204" pitchFamily="34" charset="0"/>
                <a:ea typeface="Cambria" panose="02040503050406030204" pitchFamily="18" charset="0"/>
                <a:cs typeface="Arial" panose="020B0604020202020204" pitchFamily="34" charset="0"/>
              </a:rPr>
              <a:t>Quá tải thống số tĩnh, phụ thuộc hoàn toàn vào nhân viên tư vấn.</a:t>
            </a:r>
            <a:endParaRPr lang="vi-VN" sz="3600" noProof="1">
              <a:latin typeface="Arial" panose="020B0604020202020204" pitchFamily="34" charset="0"/>
              <a:ea typeface="Cambria" panose="02040503050406030204" pitchFamily="18" charset="0"/>
              <a:cs typeface="Arial" panose="020B0604020202020204" pitchFamily="34" charset="0"/>
            </a:endParaRPr>
          </a:p>
          <a:p>
            <a:pPr marL="571500" indent="-571500" algn="just">
              <a:lnSpc>
                <a:spcPct val="150000"/>
              </a:lnSpc>
              <a:buSzPct val="100000"/>
              <a:buFont typeface="Wingdings" panose="05000000000000000000" pitchFamily="2" charset="2"/>
              <a:buChar char="ü"/>
            </a:pPr>
            <a:r>
              <a:rPr lang="vi-VN" sz="3600" noProof="1">
                <a:solidFill>
                  <a:srgbClr val="1E293B"/>
                </a:solidFill>
                <a:latin typeface="Arial" panose="020B0604020202020204" pitchFamily="34" charset="0"/>
                <a:ea typeface="Cambria" panose="02040503050406030204" pitchFamily="18" charset="0"/>
                <a:cs typeface="Arial" panose="020B0604020202020204" pitchFamily="34" charset="0"/>
              </a:rPr>
              <a:t>Quy trình giấy tờ chậm trễ, dễ sai sót khi phân bổ kho bãi. </a:t>
            </a:r>
          </a:p>
        </p:txBody>
      </p:sp>
      <p:sp>
        <p:nvSpPr>
          <p:cNvPr id="13" name="TextBox 12">
            <a:extLst>
              <a:ext uri="{FF2B5EF4-FFF2-40B4-BE49-F238E27FC236}">
                <a16:creationId xmlns:a16="http://schemas.microsoft.com/office/drawing/2014/main" id="{22F4625D-A05D-32CB-2E0B-733AA6C89CAC}"/>
              </a:ext>
            </a:extLst>
          </p:cNvPr>
          <p:cNvSpPr txBox="1"/>
          <p:nvPr/>
        </p:nvSpPr>
        <p:spPr>
          <a:xfrm>
            <a:off x="1897230" y="3334408"/>
            <a:ext cx="4968691" cy="707886"/>
          </a:xfrm>
          <a:prstGeom prst="rect">
            <a:avLst/>
          </a:prstGeom>
          <a:noFill/>
        </p:spPr>
        <p:txBody>
          <a:bodyPr wrap="square" rtlCol="0">
            <a:spAutoFit/>
          </a:bodyPr>
          <a:lstStyle/>
          <a:p>
            <a:pPr algn="just"/>
            <a:r>
              <a:rPr lang="vi-VN" sz="4000" noProof="1">
                <a:solidFill>
                  <a:srgbClr val="16458C"/>
                </a:solidFill>
                <a:ea typeface="Cambria" panose="02040503050406030204" pitchFamily="18" charset="0"/>
              </a:rPr>
              <a:t>Mua xe truyền</a:t>
            </a:r>
            <a:r>
              <a:rPr lang="vi-VN" sz="4000" b="1" noProof="1">
                <a:solidFill>
                  <a:srgbClr val="16458C"/>
                </a:solidFill>
                <a:ea typeface="Cambria" panose="02040503050406030204" pitchFamily="18" charset="0"/>
              </a:rPr>
              <a:t> </a:t>
            </a:r>
            <a:r>
              <a:rPr lang="vi-VN" sz="4000" noProof="1">
                <a:solidFill>
                  <a:srgbClr val="16458C"/>
                </a:solidFill>
                <a:ea typeface="Cambria" panose="02040503050406030204" pitchFamily="18" charset="0"/>
              </a:rPr>
              <a:t>thống</a:t>
            </a:r>
          </a:p>
        </p:txBody>
      </p:sp>
      <p:cxnSp>
        <p:nvCxnSpPr>
          <p:cNvPr id="19" name="Straight Connector 18">
            <a:extLst>
              <a:ext uri="{FF2B5EF4-FFF2-40B4-BE49-F238E27FC236}">
                <a16:creationId xmlns:a16="http://schemas.microsoft.com/office/drawing/2014/main" id="{7A857AE1-F29A-366E-2190-60377A684F38}"/>
              </a:ext>
            </a:extLst>
          </p:cNvPr>
          <p:cNvCxnSpPr>
            <a:cxnSpLocks/>
          </p:cNvCxnSpPr>
          <p:nvPr/>
        </p:nvCxnSpPr>
        <p:spPr>
          <a:xfrm flipH="1">
            <a:off x="11506200" y="4177018"/>
            <a:ext cx="5454330" cy="0"/>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0FB536D0-AEE9-5967-A431-CBF104C7B13B}"/>
              </a:ext>
            </a:extLst>
          </p:cNvPr>
          <p:cNvSpPr txBox="1"/>
          <p:nvPr/>
        </p:nvSpPr>
        <p:spPr>
          <a:xfrm>
            <a:off x="9851741" y="4194207"/>
            <a:ext cx="7671113" cy="4144661"/>
          </a:xfrm>
          <a:prstGeom prst="rect">
            <a:avLst/>
          </a:prstGeom>
          <a:noFill/>
        </p:spPr>
        <p:txBody>
          <a:bodyPr wrap="square" rtlCol="0">
            <a:spAutoFit/>
          </a:bodyPr>
          <a:lstStyle/>
          <a:p>
            <a:pPr marL="571500" indent="-571500" algn="just">
              <a:lnSpc>
                <a:spcPct val="150000"/>
              </a:lnSpc>
              <a:buSzPct val="100000"/>
              <a:buFont typeface="Wingdings" panose="05000000000000000000" pitchFamily="2" charset="2"/>
              <a:buChar char="ü"/>
            </a:pPr>
            <a:r>
              <a:rPr lang="vi-VN" sz="3600" noProof="1">
                <a:solidFill>
                  <a:srgbClr val="1E293B"/>
                </a:solidFill>
                <a:latin typeface="Arial" panose="020B0604020202020204" pitchFamily="34" charset="0"/>
                <a:ea typeface="Cambria" panose="02040503050406030204" pitchFamily="18" charset="0"/>
                <a:cs typeface="Arial" panose="020B0604020202020204" pitchFamily="34" charset="0"/>
              </a:rPr>
              <a:t>Trợ lý AI cá nhân hóa giúp bóc tách nhu cầu và gợi ý thời gian thực.</a:t>
            </a:r>
            <a:endParaRPr lang="vi-VN" sz="3600" noProof="1">
              <a:latin typeface="Arial" panose="020B0604020202020204" pitchFamily="34" charset="0"/>
              <a:ea typeface="Cambria" panose="02040503050406030204" pitchFamily="18" charset="0"/>
              <a:cs typeface="Arial" panose="020B0604020202020204" pitchFamily="34" charset="0"/>
            </a:endParaRPr>
          </a:p>
          <a:p>
            <a:pPr marL="571500" indent="-571500" algn="just">
              <a:lnSpc>
                <a:spcPct val="150000"/>
              </a:lnSpc>
              <a:buSzPct val="100000"/>
              <a:buFont typeface="Wingdings" panose="05000000000000000000" pitchFamily="2" charset="2"/>
              <a:buChar char="ü"/>
            </a:pPr>
            <a:r>
              <a:rPr lang="vi-VN" sz="3600" noProof="1">
                <a:solidFill>
                  <a:srgbClr val="1E293B"/>
                </a:solidFill>
                <a:latin typeface="Arial" panose="020B0604020202020204" pitchFamily="34" charset="0"/>
                <a:ea typeface="Cambria" panose="02040503050406030204" pitchFamily="18" charset="0"/>
                <a:cs typeface="Arial" panose="020B0604020202020204" pitchFamily="34" charset="0"/>
              </a:rPr>
              <a:t>Công cụ dự toán trực tuyến.</a:t>
            </a:r>
            <a:endParaRPr lang="vi-VN" sz="3600" noProof="1">
              <a:latin typeface="Arial" panose="020B0604020202020204" pitchFamily="34" charset="0"/>
              <a:ea typeface="Cambria" panose="02040503050406030204" pitchFamily="18" charset="0"/>
              <a:cs typeface="Arial" panose="020B0604020202020204" pitchFamily="34" charset="0"/>
            </a:endParaRPr>
          </a:p>
          <a:p>
            <a:pPr marL="571500" indent="-571500" algn="just">
              <a:lnSpc>
                <a:spcPct val="150000"/>
              </a:lnSpc>
              <a:buSzPct val="100000"/>
              <a:buFont typeface="Wingdings" panose="05000000000000000000" pitchFamily="2" charset="2"/>
              <a:buChar char="ü"/>
            </a:pPr>
            <a:r>
              <a:rPr lang="vi-VN" sz="3600" noProof="1">
                <a:solidFill>
                  <a:srgbClr val="1E293B"/>
                </a:solidFill>
                <a:latin typeface="Arial" panose="020B0604020202020204" pitchFamily="34" charset="0"/>
                <a:ea typeface="Cambria" panose="02040503050406030204" pitchFamily="18" charset="0"/>
                <a:cs typeface="Arial" panose="020B0604020202020204" pitchFamily="34" charset="0"/>
              </a:rPr>
              <a:t>Tích hợp thanh toán VNPay.</a:t>
            </a:r>
            <a:endParaRPr lang="vi-VN" sz="3600" noProof="1">
              <a:latin typeface="Arial" panose="020B0604020202020204" pitchFamily="34" charset="0"/>
              <a:ea typeface="Cambria" panose="02040503050406030204" pitchFamily="18" charset="0"/>
              <a:cs typeface="Arial" panose="020B0604020202020204" pitchFamily="34" charset="0"/>
            </a:endParaRPr>
          </a:p>
        </p:txBody>
      </p:sp>
      <p:sp>
        <p:nvSpPr>
          <p:cNvPr id="7" name="TextBox 6">
            <a:extLst>
              <a:ext uri="{FF2B5EF4-FFF2-40B4-BE49-F238E27FC236}">
                <a16:creationId xmlns:a16="http://schemas.microsoft.com/office/drawing/2014/main" id="{58ABE172-F12C-5A45-F653-754514833E13}"/>
              </a:ext>
            </a:extLst>
          </p:cNvPr>
          <p:cNvSpPr txBox="1"/>
          <p:nvPr/>
        </p:nvSpPr>
        <p:spPr>
          <a:xfrm>
            <a:off x="11929708" y="3120993"/>
            <a:ext cx="5596040" cy="901593"/>
          </a:xfrm>
          <a:prstGeom prst="rect">
            <a:avLst/>
          </a:prstGeom>
          <a:noFill/>
        </p:spPr>
        <p:txBody>
          <a:bodyPr wrap="square" rtlCol="0">
            <a:spAutoFit/>
          </a:bodyPr>
          <a:lstStyle/>
          <a:p>
            <a:pPr>
              <a:lnSpc>
                <a:spcPct val="150000"/>
              </a:lnSpc>
            </a:pPr>
            <a:r>
              <a:rPr lang="vi-VN" sz="4000" dirty="0">
                <a:solidFill>
                  <a:srgbClr val="16458C"/>
                </a:solidFill>
                <a:latin typeface="Arial" panose="020B0604020202020204" pitchFamily="34" charset="0"/>
                <a:cs typeface="Arial" panose="020B0604020202020204" pitchFamily="34" charset="0"/>
              </a:rPr>
              <a:t>Ứng dụng học máy</a:t>
            </a:r>
          </a:p>
        </p:txBody>
      </p:sp>
    </p:spTree>
    <p:extLst>
      <p:ext uri="{BB962C8B-B14F-4D97-AF65-F5344CB8AC3E}">
        <p14:creationId xmlns:p14="http://schemas.microsoft.com/office/powerpoint/2010/main" val="2378921340"/>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dirty="0"/>
          </a:p>
        </p:txBody>
      </p:sp>
      <p:grpSp>
        <p:nvGrpSpPr>
          <p:cNvPr id="3" name="Group 3"/>
          <p:cNvGrpSpPr/>
          <p:nvPr/>
        </p:nvGrpSpPr>
        <p:grpSpPr>
          <a:xfrm>
            <a:off x="2635989" y="2409856"/>
            <a:ext cx="1028643" cy="1057244"/>
            <a:chOff x="0" y="0"/>
            <a:chExt cx="1371524" cy="1409658"/>
          </a:xfrm>
        </p:grpSpPr>
        <p:sp>
          <p:nvSpPr>
            <p:cNvPr id="4" name="Freeform 4"/>
            <p:cNvSpPr/>
            <p:nvPr/>
          </p:nvSpPr>
          <p:spPr>
            <a:xfrm>
              <a:off x="0" y="0"/>
              <a:ext cx="1371600" cy="1409700"/>
            </a:xfrm>
            <a:custGeom>
              <a:avLst/>
              <a:gdLst/>
              <a:ahLst/>
              <a:cxnLst/>
              <a:rect l="l" t="t" r="r" b="b"/>
              <a:pathLst>
                <a:path w="1371600" h="1409700">
                  <a:moveTo>
                    <a:pt x="0" y="704850"/>
                  </a:moveTo>
                  <a:cubicBezTo>
                    <a:pt x="0" y="315595"/>
                    <a:pt x="307086" y="0"/>
                    <a:pt x="685800" y="0"/>
                  </a:cubicBezTo>
                  <a:cubicBezTo>
                    <a:pt x="1064514" y="0"/>
                    <a:pt x="1371600" y="315595"/>
                    <a:pt x="1371600" y="704850"/>
                  </a:cubicBezTo>
                  <a:cubicBezTo>
                    <a:pt x="1371600" y="1094105"/>
                    <a:pt x="1064514" y="1409700"/>
                    <a:pt x="685800" y="1409700"/>
                  </a:cubicBezTo>
                  <a:cubicBezTo>
                    <a:pt x="307086" y="1409700"/>
                    <a:pt x="0" y="1094105"/>
                    <a:pt x="0" y="704850"/>
                  </a:cubicBezTo>
                  <a:close/>
                </a:path>
              </a:pathLst>
            </a:custGeom>
            <a:solidFill>
              <a:srgbClr val="FCB618"/>
            </a:solidFill>
            <a:ln w="12700">
              <a:solidFill>
                <a:schemeClr val="bg1"/>
              </a:solidFill>
            </a:ln>
          </p:spPr>
          <p:txBody>
            <a:bodyPr/>
            <a:lstStyle/>
            <a:p>
              <a:endParaRPr lang="vi-VN"/>
            </a:p>
          </p:txBody>
        </p:sp>
        <p:sp>
          <p:nvSpPr>
            <p:cNvPr id="5" name="TextBox 5"/>
            <p:cNvSpPr txBox="1"/>
            <p:nvPr/>
          </p:nvSpPr>
          <p:spPr>
            <a:xfrm>
              <a:off x="0" y="-19050"/>
              <a:ext cx="1371524" cy="1428708"/>
            </a:xfrm>
            <a:prstGeom prst="rect">
              <a:avLst/>
            </a:prstGeom>
            <a:ln>
              <a:solidFill>
                <a:schemeClr val="bg1"/>
              </a:solidFill>
            </a:ln>
          </p:spPr>
          <p:txBody>
            <a:bodyPr lIns="50800" tIns="50800" rIns="50800" bIns="50800" rtlCol="0" anchor="ctr"/>
            <a:lstStyle/>
            <a:p>
              <a:pPr algn="ctr">
                <a:lnSpc>
                  <a:spcPts val="8640"/>
                </a:lnSpc>
              </a:pPr>
              <a:r>
                <a:rPr lang="en-US" sz="7200" b="1" dirty="0">
                  <a:solidFill>
                    <a:srgbClr val="FFFFFF"/>
                  </a:solidFill>
                  <a:latin typeface="Cambria" panose="02040503050406030204" pitchFamily="18" charset="0"/>
                  <a:ea typeface="Cambria" panose="02040503050406030204" pitchFamily="18" charset="0"/>
                  <a:cs typeface="Cambria Bold"/>
                  <a:sym typeface="Cambria Bold"/>
                </a:rPr>
                <a:t>2</a:t>
              </a:r>
            </a:p>
          </p:txBody>
        </p:sp>
      </p:grpSp>
      <p:sp>
        <p:nvSpPr>
          <p:cNvPr id="6" name="TextBox 6"/>
          <p:cNvSpPr txBox="1"/>
          <p:nvPr/>
        </p:nvSpPr>
        <p:spPr>
          <a:xfrm>
            <a:off x="751675" y="3888425"/>
            <a:ext cx="6062779" cy="2325380"/>
          </a:xfrm>
          <a:prstGeom prst="rect">
            <a:avLst/>
          </a:prstGeom>
        </p:spPr>
        <p:txBody>
          <a:bodyPr wrap="square" lIns="0" tIns="0" rIns="0" bIns="0" rtlCol="0" anchor="t">
            <a:spAutoFit/>
          </a:bodyPr>
          <a:lstStyle/>
          <a:p>
            <a:pPr>
              <a:lnSpc>
                <a:spcPct val="120000"/>
              </a:lnSpc>
            </a:pPr>
            <a:r>
              <a:rPr lang="vi-VN" sz="6600" b="1" noProof="1">
                <a:solidFill>
                  <a:srgbClr val="16458C"/>
                </a:solidFill>
                <a:latin typeface="Arial" panose="020B0604020202020204" pitchFamily="34" charset="0"/>
                <a:ea typeface="Cambria" panose="02040503050406030204" pitchFamily="18" charset="0"/>
                <a:cs typeface="Arial" panose="020B0604020202020204" pitchFamily="34" charset="0"/>
                <a:sym typeface="Cambria"/>
              </a:rPr>
              <a:t>Phân tích thiết kế hệ thống</a:t>
            </a:r>
          </a:p>
        </p:txBody>
      </p:sp>
      <p:grpSp>
        <p:nvGrpSpPr>
          <p:cNvPr id="15" name="Group 14">
            <a:extLst>
              <a:ext uri="{FF2B5EF4-FFF2-40B4-BE49-F238E27FC236}">
                <a16:creationId xmlns:a16="http://schemas.microsoft.com/office/drawing/2014/main" id="{C97ECE67-6CCD-89B6-8457-5B6F83A0C033}"/>
              </a:ext>
            </a:extLst>
          </p:cNvPr>
          <p:cNvGrpSpPr/>
          <p:nvPr/>
        </p:nvGrpSpPr>
        <p:grpSpPr>
          <a:xfrm>
            <a:off x="7488560" y="2395568"/>
            <a:ext cx="10047765" cy="1196225"/>
            <a:chOff x="8252935" y="2916636"/>
            <a:chExt cx="10047765" cy="1196225"/>
          </a:xfrm>
        </p:grpSpPr>
        <p:sp>
          <p:nvSpPr>
            <p:cNvPr id="7" name="TextBox 7"/>
            <p:cNvSpPr txBox="1"/>
            <p:nvPr/>
          </p:nvSpPr>
          <p:spPr>
            <a:xfrm>
              <a:off x="8545949" y="2916636"/>
              <a:ext cx="9754751" cy="1196225"/>
            </a:xfrm>
            <a:prstGeom prst="rect">
              <a:avLst/>
            </a:prstGeom>
          </p:spPr>
          <p:txBody>
            <a:bodyPr wrap="square" lIns="0" tIns="0" rIns="0" bIns="0" rtlCol="0" anchor="t">
              <a:spAutoFit/>
            </a:bodyPr>
            <a:lstStyle/>
            <a:p>
              <a:pPr algn="l">
                <a:lnSpc>
                  <a:spcPts val="10800"/>
                </a:lnSpc>
              </a:pPr>
              <a:r>
                <a:rPr lang="vi-VN" sz="4800" noProof="1">
                  <a:solidFill>
                    <a:srgbClr val="16458C"/>
                  </a:solidFill>
                  <a:latin typeface="Arial" panose="020B0604020202020204" pitchFamily="34" charset="0"/>
                  <a:cs typeface="Arial" panose="020B0604020202020204" pitchFamily="34" charset="0"/>
                </a:rPr>
                <a:t>Biểu đồ Use Case tổng quát.</a:t>
              </a:r>
              <a:endParaRPr lang="vi-VN" sz="4800" noProof="1">
                <a:solidFill>
                  <a:srgbClr val="16458C"/>
                </a:solidFill>
                <a:latin typeface="Arial" panose="020B0604020202020204" pitchFamily="34" charset="0"/>
                <a:ea typeface="Cambria" panose="02040503050406030204" pitchFamily="18" charset="0"/>
                <a:cs typeface="Arial" panose="020B0604020202020204" pitchFamily="34" charset="0"/>
                <a:sym typeface="Cambria"/>
              </a:endParaRPr>
            </a:p>
          </p:txBody>
        </p:sp>
        <p:cxnSp>
          <p:nvCxnSpPr>
            <p:cNvPr id="11" name="Straight Connector 10">
              <a:extLst>
                <a:ext uri="{FF2B5EF4-FFF2-40B4-BE49-F238E27FC236}">
                  <a16:creationId xmlns:a16="http://schemas.microsoft.com/office/drawing/2014/main" id="{B0926DD7-5026-43E6-3F4E-205722ABF444}"/>
                </a:ext>
              </a:extLst>
            </p:cNvPr>
            <p:cNvCxnSpPr>
              <a:cxnSpLocks/>
            </p:cNvCxnSpPr>
            <p:nvPr/>
          </p:nvCxnSpPr>
          <p:spPr>
            <a:xfrm>
              <a:off x="8252935" y="3399092"/>
              <a:ext cx="0" cy="677608"/>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grpSp>
      <p:grpSp>
        <p:nvGrpSpPr>
          <p:cNvPr id="16" name="Group 15">
            <a:extLst>
              <a:ext uri="{FF2B5EF4-FFF2-40B4-BE49-F238E27FC236}">
                <a16:creationId xmlns:a16="http://schemas.microsoft.com/office/drawing/2014/main" id="{7414A195-912B-588C-144A-320FF0B1928B}"/>
              </a:ext>
            </a:extLst>
          </p:cNvPr>
          <p:cNvGrpSpPr/>
          <p:nvPr/>
        </p:nvGrpSpPr>
        <p:grpSpPr>
          <a:xfrm>
            <a:off x="7480539" y="3799637"/>
            <a:ext cx="12185508" cy="1178721"/>
            <a:chOff x="8252935" y="2950586"/>
            <a:chExt cx="12185508" cy="1178721"/>
          </a:xfrm>
        </p:grpSpPr>
        <p:sp>
          <p:nvSpPr>
            <p:cNvPr id="17" name="TextBox 7">
              <a:extLst>
                <a:ext uri="{FF2B5EF4-FFF2-40B4-BE49-F238E27FC236}">
                  <a16:creationId xmlns:a16="http://schemas.microsoft.com/office/drawing/2014/main" id="{09AB5500-DDA0-705F-37C5-935A8284019D}"/>
                </a:ext>
              </a:extLst>
            </p:cNvPr>
            <p:cNvSpPr txBox="1"/>
            <p:nvPr/>
          </p:nvSpPr>
          <p:spPr>
            <a:xfrm>
              <a:off x="8578033" y="2950586"/>
              <a:ext cx="11860410" cy="1178721"/>
            </a:xfrm>
            <a:prstGeom prst="rect">
              <a:avLst/>
            </a:prstGeom>
          </p:spPr>
          <p:txBody>
            <a:bodyPr wrap="square" lIns="0" tIns="0" rIns="0" bIns="0" rtlCol="0" anchor="t">
              <a:spAutoFit/>
            </a:bodyPr>
            <a:lstStyle/>
            <a:p>
              <a:pPr>
                <a:lnSpc>
                  <a:spcPts val="10800"/>
                </a:lnSpc>
              </a:pPr>
              <a:r>
                <a:rPr lang="vi-VN" sz="4800" dirty="0">
                  <a:solidFill>
                    <a:srgbClr val="16458C"/>
                  </a:solidFill>
                </a:rPr>
                <a:t>Phân tích luồng nghiệp vụ cốt lõi.</a:t>
              </a:r>
              <a:endParaRPr lang="en-US" sz="4800" dirty="0">
                <a:solidFill>
                  <a:srgbClr val="16458C"/>
                </a:solidFill>
                <a:latin typeface="Cambria" panose="02040503050406030204" pitchFamily="18" charset="0"/>
                <a:ea typeface="Cambria" panose="02040503050406030204" pitchFamily="18" charset="0"/>
                <a:cs typeface="Cambria"/>
                <a:sym typeface="Cambria"/>
              </a:endParaRPr>
            </a:p>
          </p:txBody>
        </p:sp>
        <p:cxnSp>
          <p:nvCxnSpPr>
            <p:cNvPr id="18" name="Straight Connector 17">
              <a:extLst>
                <a:ext uri="{FF2B5EF4-FFF2-40B4-BE49-F238E27FC236}">
                  <a16:creationId xmlns:a16="http://schemas.microsoft.com/office/drawing/2014/main" id="{8EBE2FE6-736F-06BC-15FE-3A9BBF50771C}"/>
                </a:ext>
              </a:extLst>
            </p:cNvPr>
            <p:cNvCxnSpPr>
              <a:cxnSpLocks/>
            </p:cNvCxnSpPr>
            <p:nvPr/>
          </p:nvCxnSpPr>
          <p:spPr>
            <a:xfrm>
              <a:off x="8252935" y="3399092"/>
              <a:ext cx="0" cy="677608"/>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grpSp>
      <p:grpSp>
        <p:nvGrpSpPr>
          <p:cNvPr id="19" name="Group 18">
            <a:extLst>
              <a:ext uri="{FF2B5EF4-FFF2-40B4-BE49-F238E27FC236}">
                <a16:creationId xmlns:a16="http://schemas.microsoft.com/office/drawing/2014/main" id="{97D72042-309D-5506-BEB3-F9C579FD74A0}"/>
              </a:ext>
            </a:extLst>
          </p:cNvPr>
          <p:cNvGrpSpPr/>
          <p:nvPr/>
        </p:nvGrpSpPr>
        <p:grpSpPr>
          <a:xfrm>
            <a:off x="7488560" y="5186202"/>
            <a:ext cx="12157434" cy="1196225"/>
            <a:chOff x="8252935" y="2941902"/>
            <a:chExt cx="12157434" cy="1196225"/>
          </a:xfrm>
        </p:grpSpPr>
        <p:sp>
          <p:nvSpPr>
            <p:cNvPr id="20" name="TextBox 7">
              <a:extLst>
                <a:ext uri="{FF2B5EF4-FFF2-40B4-BE49-F238E27FC236}">
                  <a16:creationId xmlns:a16="http://schemas.microsoft.com/office/drawing/2014/main" id="{35C2D16A-B4F1-9644-D8A0-52B994FB2D9C}"/>
                </a:ext>
              </a:extLst>
            </p:cNvPr>
            <p:cNvSpPr txBox="1"/>
            <p:nvPr/>
          </p:nvSpPr>
          <p:spPr>
            <a:xfrm>
              <a:off x="8549959" y="2941902"/>
              <a:ext cx="11860410" cy="1196225"/>
            </a:xfrm>
            <a:prstGeom prst="rect">
              <a:avLst/>
            </a:prstGeom>
          </p:spPr>
          <p:txBody>
            <a:bodyPr wrap="square" lIns="0" tIns="0" rIns="0" bIns="0" rtlCol="0" anchor="t">
              <a:spAutoFit/>
            </a:bodyPr>
            <a:lstStyle/>
            <a:p>
              <a:pPr>
                <a:lnSpc>
                  <a:spcPts val="10800"/>
                </a:lnSpc>
              </a:pPr>
              <a:r>
                <a:rPr lang="vi-VN" sz="4800" dirty="0">
                  <a:solidFill>
                    <a:srgbClr val="16458C"/>
                  </a:solidFill>
                </a:rPr>
                <a:t>Thiết kế Cơ sở dữ liệu.</a:t>
              </a:r>
              <a:endParaRPr lang="en-US" sz="4800" dirty="0">
                <a:solidFill>
                  <a:srgbClr val="16458C"/>
                </a:solidFill>
                <a:latin typeface="Cambria" panose="02040503050406030204" pitchFamily="18" charset="0"/>
                <a:ea typeface="Cambria" panose="02040503050406030204" pitchFamily="18" charset="0"/>
                <a:cs typeface="Cambria"/>
                <a:sym typeface="Cambria"/>
              </a:endParaRPr>
            </a:p>
          </p:txBody>
        </p:sp>
        <p:cxnSp>
          <p:nvCxnSpPr>
            <p:cNvPr id="21" name="Straight Connector 20">
              <a:extLst>
                <a:ext uri="{FF2B5EF4-FFF2-40B4-BE49-F238E27FC236}">
                  <a16:creationId xmlns:a16="http://schemas.microsoft.com/office/drawing/2014/main" id="{14E7EF64-CA21-981B-CD18-AF6FB5CA719F}"/>
                </a:ext>
              </a:extLst>
            </p:cNvPr>
            <p:cNvCxnSpPr>
              <a:cxnSpLocks/>
            </p:cNvCxnSpPr>
            <p:nvPr/>
          </p:nvCxnSpPr>
          <p:spPr>
            <a:xfrm>
              <a:off x="8252935" y="3399092"/>
              <a:ext cx="0" cy="677608"/>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4CF2AA81-AA87-D15E-7EF4-16877C715744}"/>
              </a:ext>
            </a:extLst>
          </p:cNvPr>
          <p:cNvGrpSpPr/>
          <p:nvPr/>
        </p:nvGrpSpPr>
        <p:grpSpPr>
          <a:xfrm>
            <a:off x="7474496" y="6594743"/>
            <a:ext cx="12157434" cy="1196225"/>
            <a:chOff x="8252935" y="2941902"/>
            <a:chExt cx="12157434" cy="1196225"/>
          </a:xfrm>
        </p:grpSpPr>
        <p:sp>
          <p:nvSpPr>
            <p:cNvPr id="26" name="TextBox 7">
              <a:extLst>
                <a:ext uri="{FF2B5EF4-FFF2-40B4-BE49-F238E27FC236}">
                  <a16:creationId xmlns:a16="http://schemas.microsoft.com/office/drawing/2014/main" id="{F4056494-C062-E162-4468-2A3DCEA932F1}"/>
                </a:ext>
              </a:extLst>
            </p:cNvPr>
            <p:cNvSpPr txBox="1"/>
            <p:nvPr/>
          </p:nvSpPr>
          <p:spPr>
            <a:xfrm>
              <a:off x="8549959" y="2941902"/>
              <a:ext cx="11860410" cy="1196225"/>
            </a:xfrm>
            <a:prstGeom prst="rect">
              <a:avLst/>
            </a:prstGeom>
          </p:spPr>
          <p:txBody>
            <a:bodyPr wrap="square" lIns="0" tIns="0" rIns="0" bIns="0" rtlCol="0" anchor="t">
              <a:spAutoFit/>
            </a:bodyPr>
            <a:lstStyle/>
            <a:p>
              <a:pPr>
                <a:lnSpc>
                  <a:spcPts val="10800"/>
                </a:lnSpc>
              </a:pPr>
              <a:r>
                <a:rPr lang="vi-VN" sz="4800" dirty="0">
                  <a:solidFill>
                    <a:srgbClr val="16458C"/>
                  </a:solidFill>
                </a:rPr>
                <a:t>Thiết kế giao diện.</a:t>
              </a:r>
              <a:endParaRPr lang="en-US" sz="4800" dirty="0">
                <a:solidFill>
                  <a:srgbClr val="16458C"/>
                </a:solidFill>
                <a:latin typeface="Cambria" panose="02040503050406030204" pitchFamily="18" charset="0"/>
                <a:ea typeface="Cambria" panose="02040503050406030204" pitchFamily="18" charset="0"/>
                <a:cs typeface="Cambria"/>
                <a:sym typeface="Cambria"/>
              </a:endParaRPr>
            </a:p>
          </p:txBody>
        </p:sp>
        <p:cxnSp>
          <p:nvCxnSpPr>
            <p:cNvPr id="27" name="Straight Connector 26">
              <a:extLst>
                <a:ext uri="{FF2B5EF4-FFF2-40B4-BE49-F238E27FC236}">
                  <a16:creationId xmlns:a16="http://schemas.microsoft.com/office/drawing/2014/main" id="{0CBE08DA-2F20-EBFC-BBBD-356F7F1DCA13}"/>
                </a:ext>
              </a:extLst>
            </p:cNvPr>
            <p:cNvCxnSpPr>
              <a:cxnSpLocks/>
            </p:cNvCxnSpPr>
            <p:nvPr/>
          </p:nvCxnSpPr>
          <p:spPr>
            <a:xfrm>
              <a:off x="8252935" y="3399092"/>
              <a:ext cx="0" cy="677608"/>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grpSp>
      <p:sp>
        <p:nvSpPr>
          <p:cNvPr id="8" name="TextBox 7">
            <a:extLst>
              <a:ext uri="{FF2B5EF4-FFF2-40B4-BE49-F238E27FC236}">
                <a16:creationId xmlns:a16="http://schemas.microsoft.com/office/drawing/2014/main" id="{C0F205F8-38AD-5E3C-8E60-411265573E53}"/>
              </a:ext>
            </a:extLst>
          </p:cNvPr>
          <p:cNvSpPr txBox="1"/>
          <p:nvPr/>
        </p:nvSpPr>
        <p:spPr>
          <a:xfrm>
            <a:off x="7771520" y="7976836"/>
            <a:ext cx="11860410" cy="1196225"/>
          </a:xfrm>
          <a:prstGeom prst="rect">
            <a:avLst/>
          </a:prstGeom>
        </p:spPr>
        <p:txBody>
          <a:bodyPr wrap="square" lIns="0" tIns="0" rIns="0" bIns="0" rtlCol="0" anchor="t">
            <a:spAutoFit/>
          </a:bodyPr>
          <a:lstStyle/>
          <a:p>
            <a:pPr>
              <a:lnSpc>
                <a:spcPts val="10800"/>
              </a:lnSpc>
            </a:pPr>
            <a:r>
              <a:rPr lang="vi-VN" sz="4800" dirty="0">
                <a:solidFill>
                  <a:srgbClr val="16458C"/>
                </a:solidFill>
                <a:ea typeface="Cambria" panose="02040503050406030204" pitchFamily="18" charset="0"/>
                <a:cs typeface="Cambria"/>
                <a:sym typeface="Cambria"/>
              </a:rPr>
              <a:t>Ứng dụng học máy.</a:t>
            </a:r>
            <a:endParaRPr lang="en-US" sz="4800" dirty="0">
              <a:solidFill>
                <a:srgbClr val="16458C"/>
              </a:solidFill>
              <a:ea typeface="Cambria" panose="02040503050406030204" pitchFamily="18" charset="0"/>
              <a:cs typeface="Cambria"/>
              <a:sym typeface="Cambria"/>
            </a:endParaRPr>
          </a:p>
        </p:txBody>
      </p:sp>
      <p:cxnSp>
        <p:nvCxnSpPr>
          <p:cNvPr id="9" name="Straight Connector 8">
            <a:extLst>
              <a:ext uri="{FF2B5EF4-FFF2-40B4-BE49-F238E27FC236}">
                <a16:creationId xmlns:a16="http://schemas.microsoft.com/office/drawing/2014/main" id="{7AF375C2-3A35-7ABE-6B3B-17037344A771}"/>
              </a:ext>
            </a:extLst>
          </p:cNvPr>
          <p:cNvCxnSpPr>
            <a:cxnSpLocks/>
          </p:cNvCxnSpPr>
          <p:nvPr/>
        </p:nvCxnSpPr>
        <p:spPr>
          <a:xfrm>
            <a:off x="7488560" y="8380811"/>
            <a:ext cx="0" cy="677608"/>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97872-4B32-396B-0B41-A0A19BA5A01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B7D58D6-D017-E273-A93D-CE37B43BBDDF}"/>
              </a:ext>
            </a:extLst>
          </p:cNvPr>
          <p:cNvSpPr/>
          <p:nvPr/>
        </p:nvSpPr>
        <p:spPr>
          <a:xfrm>
            <a:off x="0" y="2286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grpSp>
        <p:nvGrpSpPr>
          <p:cNvPr id="6" name="Group 5">
            <a:extLst>
              <a:ext uri="{FF2B5EF4-FFF2-40B4-BE49-F238E27FC236}">
                <a16:creationId xmlns:a16="http://schemas.microsoft.com/office/drawing/2014/main" id="{9D81B41A-A78A-F76E-A9FF-A203C047AA27}"/>
              </a:ext>
            </a:extLst>
          </p:cNvPr>
          <p:cNvGrpSpPr/>
          <p:nvPr/>
        </p:nvGrpSpPr>
        <p:grpSpPr>
          <a:xfrm>
            <a:off x="866151" y="1562100"/>
            <a:ext cx="12185508" cy="1213730"/>
            <a:chOff x="8280886" y="2798186"/>
            <a:chExt cx="12185508" cy="1213730"/>
          </a:xfrm>
        </p:grpSpPr>
        <p:sp>
          <p:nvSpPr>
            <p:cNvPr id="7" name="TextBox 7">
              <a:extLst>
                <a:ext uri="{FF2B5EF4-FFF2-40B4-BE49-F238E27FC236}">
                  <a16:creationId xmlns:a16="http://schemas.microsoft.com/office/drawing/2014/main" id="{8C07BC41-44EB-D875-E676-71D0CA0D99A5}"/>
                </a:ext>
              </a:extLst>
            </p:cNvPr>
            <p:cNvSpPr txBox="1"/>
            <p:nvPr/>
          </p:nvSpPr>
          <p:spPr>
            <a:xfrm>
              <a:off x="8605984" y="2798186"/>
              <a:ext cx="11860410" cy="1213730"/>
            </a:xfrm>
            <a:prstGeom prst="rect">
              <a:avLst/>
            </a:prstGeom>
          </p:spPr>
          <p:txBody>
            <a:bodyPr wrap="square" lIns="0" tIns="0" rIns="0" bIns="0" rtlCol="0" anchor="t">
              <a:spAutoFit/>
            </a:bodyPr>
            <a:lstStyle/>
            <a:p>
              <a:pPr>
                <a:lnSpc>
                  <a:spcPts val="10800"/>
                </a:lnSpc>
              </a:pPr>
              <a:r>
                <a:rPr lang="vi-VN" sz="4800" noProof="1">
                  <a:solidFill>
                    <a:srgbClr val="16458C"/>
                  </a:solidFill>
                  <a:latin typeface="Arial" panose="020B0604020202020204" pitchFamily="34" charset="0"/>
                  <a:ea typeface="Cambria" panose="02040503050406030204" pitchFamily="18" charset="0"/>
                  <a:cs typeface="Arial" panose="020B0604020202020204" pitchFamily="34" charset="0"/>
                  <a:sym typeface="Cambria"/>
                </a:rPr>
                <a:t>Biểu đồ use case tổng  quát</a:t>
              </a:r>
            </a:p>
          </p:txBody>
        </p:sp>
        <p:cxnSp>
          <p:nvCxnSpPr>
            <p:cNvPr id="8" name="Straight Connector 7">
              <a:extLst>
                <a:ext uri="{FF2B5EF4-FFF2-40B4-BE49-F238E27FC236}">
                  <a16:creationId xmlns:a16="http://schemas.microsoft.com/office/drawing/2014/main" id="{8824012D-383F-955C-FFBB-BAA25DA03C22}"/>
                </a:ext>
              </a:extLst>
            </p:cNvPr>
            <p:cNvCxnSpPr>
              <a:cxnSpLocks/>
            </p:cNvCxnSpPr>
            <p:nvPr/>
          </p:nvCxnSpPr>
          <p:spPr>
            <a:xfrm>
              <a:off x="8280886" y="3246692"/>
              <a:ext cx="0" cy="677608"/>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grpSp>
      <p:pic>
        <p:nvPicPr>
          <p:cNvPr id="3" name="Picture 2">
            <a:extLst>
              <a:ext uri="{FF2B5EF4-FFF2-40B4-BE49-F238E27FC236}">
                <a16:creationId xmlns:a16="http://schemas.microsoft.com/office/drawing/2014/main" id="{4EF8DC48-A246-4415-D8D2-A7F2DA30FD3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2786221"/>
            <a:ext cx="12192000" cy="6482470"/>
          </a:xfrm>
          <a:prstGeom prst="rect">
            <a:avLst/>
          </a:prstGeom>
          <a:noFill/>
          <a:ln>
            <a:noFill/>
          </a:ln>
        </p:spPr>
      </p:pic>
    </p:spTree>
    <p:extLst>
      <p:ext uri="{BB962C8B-B14F-4D97-AF65-F5344CB8AC3E}">
        <p14:creationId xmlns:p14="http://schemas.microsoft.com/office/powerpoint/2010/main" val="778578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dirty="0"/>
          </a:p>
        </p:txBody>
      </p:sp>
      <p:grpSp>
        <p:nvGrpSpPr>
          <p:cNvPr id="5" name="Group 4">
            <a:extLst>
              <a:ext uri="{FF2B5EF4-FFF2-40B4-BE49-F238E27FC236}">
                <a16:creationId xmlns:a16="http://schemas.microsoft.com/office/drawing/2014/main" id="{1A9720D9-443B-702A-0CC5-3E8C08B34CF8}"/>
              </a:ext>
            </a:extLst>
          </p:cNvPr>
          <p:cNvGrpSpPr/>
          <p:nvPr/>
        </p:nvGrpSpPr>
        <p:grpSpPr>
          <a:xfrm>
            <a:off x="886326" y="1562100"/>
            <a:ext cx="12157434" cy="1196225"/>
            <a:chOff x="8252935" y="2941902"/>
            <a:chExt cx="12157434" cy="1196225"/>
          </a:xfrm>
        </p:grpSpPr>
        <p:sp>
          <p:nvSpPr>
            <p:cNvPr id="6" name="TextBox 7">
              <a:extLst>
                <a:ext uri="{FF2B5EF4-FFF2-40B4-BE49-F238E27FC236}">
                  <a16:creationId xmlns:a16="http://schemas.microsoft.com/office/drawing/2014/main" id="{54406273-78FD-A66A-944A-53BC16AE8E15}"/>
                </a:ext>
              </a:extLst>
            </p:cNvPr>
            <p:cNvSpPr txBox="1"/>
            <p:nvPr/>
          </p:nvSpPr>
          <p:spPr>
            <a:xfrm>
              <a:off x="8549959" y="2941902"/>
              <a:ext cx="11860410" cy="1196225"/>
            </a:xfrm>
            <a:prstGeom prst="rect">
              <a:avLst/>
            </a:prstGeom>
          </p:spPr>
          <p:txBody>
            <a:bodyPr wrap="square" lIns="0" tIns="0" rIns="0" bIns="0" rtlCol="0" anchor="t">
              <a:spAutoFit/>
            </a:bodyPr>
            <a:lstStyle/>
            <a:p>
              <a:pPr>
                <a:lnSpc>
                  <a:spcPts val="10800"/>
                </a:lnSpc>
              </a:pPr>
              <a:r>
                <a:rPr lang="vi-VN" sz="4800" dirty="0">
                  <a:solidFill>
                    <a:srgbClr val="16458C"/>
                  </a:solidFill>
                </a:rPr>
                <a:t>Phân tích luồng nghiệp vụ cốt lõi</a:t>
              </a:r>
              <a:endParaRPr lang="en-US" sz="4800" dirty="0">
                <a:solidFill>
                  <a:srgbClr val="16458C"/>
                </a:solidFill>
                <a:latin typeface="Cambria" panose="02040503050406030204" pitchFamily="18" charset="0"/>
                <a:ea typeface="Cambria" panose="02040503050406030204" pitchFamily="18" charset="0"/>
                <a:cs typeface="Cambria"/>
                <a:sym typeface="Cambria"/>
              </a:endParaRPr>
            </a:p>
          </p:txBody>
        </p:sp>
        <p:cxnSp>
          <p:nvCxnSpPr>
            <p:cNvPr id="9" name="Straight Connector 8">
              <a:extLst>
                <a:ext uri="{FF2B5EF4-FFF2-40B4-BE49-F238E27FC236}">
                  <a16:creationId xmlns:a16="http://schemas.microsoft.com/office/drawing/2014/main" id="{EC842E1B-D677-E209-03F3-A55C8452BE0B}"/>
                </a:ext>
              </a:extLst>
            </p:cNvPr>
            <p:cNvCxnSpPr>
              <a:cxnSpLocks/>
            </p:cNvCxnSpPr>
            <p:nvPr/>
          </p:nvCxnSpPr>
          <p:spPr>
            <a:xfrm>
              <a:off x="8252935" y="3399092"/>
              <a:ext cx="0" cy="677608"/>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grpSp>
      <p:pic>
        <p:nvPicPr>
          <p:cNvPr id="12" name="Picture 11">
            <a:extLst>
              <a:ext uri="{FF2B5EF4-FFF2-40B4-BE49-F238E27FC236}">
                <a16:creationId xmlns:a16="http://schemas.microsoft.com/office/drawing/2014/main" id="{E663F4AB-A477-FF69-0435-D7929FA45976}"/>
              </a:ext>
            </a:extLst>
          </p:cNvPr>
          <p:cNvPicPr>
            <a:picLocks noChangeAspect="1"/>
          </p:cNvPicPr>
          <p:nvPr/>
        </p:nvPicPr>
        <p:blipFill>
          <a:blip r:embed="rId4"/>
          <a:stretch>
            <a:fillRect/>
          </a:stretch>
        </p:blipFill>
        <p:spPr>
          <a:xfrm>
            <a:off x="9593422" y="2696898"/>
            <a:ext cx="8313890" cy="6686296"/>
          </a:xfrm>
          <a:prstGeom prst="rect">
            <a:avLst/>
          </a:prstGeom>
        </p:spPr>
      </p:pic>
      <p:sp>
        <p:nvSpPr>
          <p:cNvPr id="13" name="TextBox 12">
            <a:extLst>
              <a:ext uri="{FF2B5EF4-FFF2-40B4-BE49-F238E27FC236}">
                <a16:creationId xmlns:a16="http://schemas.microsoft.com/office/drawing/2014/main" id="{F90C1969-D3F1-9B4C-A80C-851B9EA98C96}"/>
              </a:ext>
            </a:extLst>
          </p:cNvPr>
          <p:cNvSpPr txBox="1"/>
          <p:nvPr/>
        </p:nvSpPr>
        <p:spPr>
          <a:xfrm>
            <a:off x="914400" y="2758325"/>
            <a:ext cx="8381998" cy="6637651"/>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3600" noProof="1">
                <a:latin typeface="Arial" panose="020B0604020202020204" pitchFamily="34" charset="0"/>
                <a:cs typeface="Arial" panose="020B0604020202020204" pitchFamily="34" charset="0"/>
              </a:rPr>
              <a:t>Use case </a:t>
            </a:r>
            <a:r>
              <a:rPr lang="vi-VN" sz="3600" dirty="0"/>
              <a:t>mua xe ô tô với AI :</a:t>
            </a:r>
          </a:p>
          <a:p>
            <a:pPr marL="914400" lvl="1" indent="-457200">
              <a:lnSpc>
                <a:spcPct val="150000"/>
              </a:lnSpc>
              <a:buFont typeface="Arial" panose="020B0604020202020204" pitchFamily="34" charset="0"/>
              <a:buChar char="•"/>
            </a:pPr>
            <a:r>
              <a:rPr lang="vi-VN" sz="3600" dirty="0"/>
              <a:t>Tư vấn AI: Đề xuất các mẫu xe phù hợp.</a:t>
            </a:r>
          </a:p>
          <a:p>
            <a:pPr marL="914400" lvl="1" indent="-457200">
              <a:lnSpc>
                <a:spcPct val="150000"/>
              </a:lnSpc>
              <a:buFont typeface="Arial" panose="020B0604020202020204" pitchFamily="34" charset="0"/>
              <a:buChar char="•"/>
            </a:pPr>
            <a:r>
              <a:rPr lang="vi-VN" sz="3600" dirty="0"/>
              <a:t>Cấu hình trả góp: Chọn xe và thiết lập thông số tài chính.</a:t>
            </a:r>
          </a:p>
          <a:p>
            <a:pPr marL="914400" lvl="1" indent="-457200">
              <a:lnSpc>
                <a:spcPct val="150000"/>
              </a:lnSpc>
              <a:buFont typeface="Arial" panose="020B0604020202020204" pitchFamily="34" charset="0"/>
              <a:buChar char="•"/>
            </a:pPr>
            <a:r>
              <a:rPr lang="vi-VN" sz="3600" dirty="0"/>
              <a:t>Thông tin và hợp đồng: Điền thông tin cá nhân và ký hợp đồng.</a:t>
            </a:r>
          </a:p>
          <a:p>
            <a:pPr marL="914400" lvl="1" indent="-457200">
              <a:lnSpc>
                <a:spcPct val="150000"/>
              </a:lnSpc>
              <a:buFont typeface="Arial" panose="020B0604020202020204" pitchFamily="34" charset="0"/>
              <a:buChar char="•"/>
            </a:pPr>
            <a:r>
              <a:rPr lang="vi-VN" sz="3600" dirty="0"/>
              <a:t>Thanh toán.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C79B0-09FD-4F21-6B19-67C5F92FC67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24CFB24-8409-328D-3E01-DF3EFEC2113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grpSp>
        <p:nvGrpSpPr>
          <p:cNvPr id="9" name="Group 8">
            <a:extLst>
              <a:ext uri="{FF2B5EF4-FFF2-40B4-BE49-F238E27FC236}">
                <a16:creationId xmlns:a16="http://schemas.microsoft.com/office/drawing/2014/main" id="{9EDADDC5-C3DA-43D0-7B30-054172438D60}"/>
              </a:ext>
            </a:extLst>
          </p:cNvPr>
          <p:cNvGrpSpPr/>
          <p:nvPr/>
        </p:nvGrpSpPr>
        <p:grpSpPr>
          <a:xfrm>
            <a:off x="922176" y="1543527"/>
            <a:ext cx="12157434" cy="1196225"/>
            <a:chOff x="8336911" y="2873624"/>
            <a:chExt cx="12157434" cy="1196225"/>
          </a:xfrm>
        </p:grpSpPr>
        <p:sp>
          <p:nvSpPr>
            <p:cNvPr id="10" name="TextBox 7">
              <a:extLst>
                <a:ext uri="{FF2B5EF4-FFF2-40B4-BE49-F238E27FC236}">
                  <a16:creationId xmlns:a16="http://schemas.microsoft.com/office/drawing/2014/main" id="{DCAFA26D-BB82-5F16-966E-1E9A8B1CB8F1}"/>
                </a:ext>
              </a:extLst>
            </p:cNvPr>
            <p:cNvSpPr txBox="1"/>
            <p:nvPr/>
          </p:nvSpPr>
          <p:spPr>
            <a:xfrm>
              <a:off x="8633935" y="2873624"/>
              <a:ext cx="11860410" cy="1196225"/>
            </a:xfrm>
            <a:prstGeom prst="rect">
              <a:avLst/>
            </a:prstGeom>
          </p:spPr>
          <p:txBody>
            <a:bodyPr wrap="square" lIns="0" tIns="0" rIns="0" bIns="0" rtlCol="0" anchor="t">
              <a:spAutoFit/>
            </a:bodyPr>
            <a:lstStyle/>
            <a:p>
              <a:pPr>
                <a:lnSpc>
                  <a:spcPts val="10800"/>
                </a:lnSpc>
              </a:pPr>
              <a:r>
                <a:rPr lang="vi-VN" sz="4800" dirty="0">
                  <a:solidFill>
                    <a:srgbClr val="16458C"/>
                  </a:solidFill>
                </a:rPr>
                <a:t>Thiết kế Cơ sở dữ liệu</a:t>
              </a:r>
              <a:endParaRPr lang="en-US" sz="4800" dirty="0">
                <a:solidFill>
                  <a:srgbClr val="16458C"/>
                </a:solidFill>
                <a:latin typeface="Cambria" panose="02040503050406030204" pitchFamily="18" charset="0"/>
                <a:ea typeface="Cambria" panose="02040503050406030204" pitchFamily="18" charset="0"/>
                <a:cs typeface="Cambria"/>
                <a:sym typeface="Cambria"/>
              </a:endParaRPr>
            </a:p>
          </p:txBody>
        </p:sp>
        <p:cxnSp>
          <p:nvCxnSpPr>
            <p:cNvPr id="12" name="Straight Connector 11">
              <a:extLst>
                <a:ext uri="{FF2B5EF4-FFF2-40B4-BE49-F238E27FC236}">
                  <a16:creationId xmlns:a16="http://schemas.microsoft.com/office/drawing/2014/main" id="{725ED61E-5113-2D8A-836D-D978A876EFC3}"/>
                </a:ext>
              </a:extLst>
            </p:cNvPr>
            <p:cNvCxnSpPr>
              <a:cxnSpLocks/>
            </p:cNvCxnSpPr>
            <p:nvPr/>
          </p:nvCxnSpPr>
          <p:spPr>
            <a:xfrm>
              <a:off x="8336911" y="3330814"/>
              <a:ext cx="0" cy="677608"/>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grpSp>
      <p:pic>
        <p:nvPicPr>
          <p:cNvPr id="44" name="Picture 43">
            <a:extLst>
              <a:ext uri="{FF2B5EF4-FFF2-40B4-BE49-F238E27FC236}">
                <a16:creationId xmlns:a16="http://schemas.microsoft.com/office/drawing/2014/main" id="{70F17212-720F-0D16-FCAB-8D4CAC7BC66B}"/>
              </a:ext>
            </a:extLst>
          </p:cNvPr>
          <p:cNvPicPr>
            <a:picLocks noChangeAspect="1"/>
          </p:cNvPicPr>
          <p:nvPr/>
        </p:nvPicPr>
        <p:blipFill>
          <a:blip r:embed="rId4"/>
          <a:stretch>
            <a:fillRect/>
          </a:stretch>
        </p:blipFill>
        <p:spPr>
          <a:xfrm>
            <a:off x="7656393" y="2552700"/>
            <a:ext cx="10631607" cy="6808575"/>
          </a:xfrm>
          <a:prstGeom prst="rect">
            <a:avLst/>
          </a:prstGeom>
        </p:spPr>
      </p:pic>
      <p:sp>
        <p:nvSpPr>
          <p:cNvPr id="3" name="TextBox 2">
            <a:extLst>
              <a:ext uri="{FF2B5EF4-FFF2-40B4-BE49-F238E27FC236}">
                <a16:creationId xmlns:a16="http://schemas.microsoft.com/office/drawing/2014/main" id="{EDBDBB6B-EE5F-699E-3E23-EE10D93AA721}"/>
              </a:ext>
            </a:extLst>
          </p:cNvPr>
          <p:cNvSpPr txBox="1"/>
          <p:nvPr/>
        </p:nvSpPr>
        <p:spPr>
          <a:xfrm>
            <a:off x="922176" y="3081603"/>
            <a:ext cx="6240623" cy="5539978"/>
          </a:xfrm>
          <a:prstGeom prst="rect">
            <a:avLst/>
          </a:prstGeom>
          <a:noFill/>
        </p:spPr>
        <p:txBody>
          <a:bodyPr wrap="square" rtlCol="0">
            <a:spAutoFit/>
          </a:bodyPr>
          <a:lstStyle/>
          <a:p>
            <a:pPr marL="571500" indent="-571500">
              <a:lnSpc>
                <a:spcPct val="150000"/>
              </a:lnSpc>
              <a:buFont typeface="Wingdings" panose="05000000000000000000" pitchFamily="2" charset="2"/>
              <a:buChar char="Ø"/>
            </a:pPr>
            <a:r>
              <a:rPr lang="vi-VN" sz="3600" dirty="0"/>
              <a:t>Hệ quản trị CSDL</a:t>
            </a:r>
            <a:r>
              <a:rPr lang="vi-VN" sz="3600" b="1" dirty="0"/>
              <a:t>:</a:t>
            </a:r>
            <a:r>
              <a:rPr lang="vi-VN" sz="3600" dirty="0"/>
              <a:t> </a:t>
            </a:r>
            <a:r>
              <a:rPr lang="en-US" sz="3600" noProof="1"/>
              <a:t>MySQL</a:t>
            </a:r>
            <a:r>
              <a:rPr lang="vi-VN" sz="3600" noProof="1"/>
              <a:t>.</a:t>
            </a:r>
            <a:r>
              <a:rPr lang="vi-VN" sz="3600" dirty="0"/>
              <a:t> </a:t>
            </a:r>
          </a:p>
          <a:p>
            <a:pPr marL="571500" indent="-571500">
              <a:lnSpc>
                <a:spcPct val="150000"/>
              </a:lnSpc>
              <a:buFont typeface="Wingdings" panose="05000000000000000000" pitchFamily="2" charset="2"/>
              <a:buChar char="Ø"/>
            </a:pPr>
            <a:r>
              <a:rPr lang="vi-VN" sz="3600" dirty="0"/>
              <a:t>Tổng số bảng : 19 bảng. </a:t>
            </a:r>
          </a:p>
          <a:p>
            <a:pPr marL="571500" indent="-571500">
              <a:lnSpc>
                <a:spcPct val="150000"/>
              </a:lnSpc>
              <a:buFont typeface="Wingdings" panose="05000000000000000000" pitchFamily="2" charset="2"/>
              <a:buChar char="Ø"/>
            </a:pPr>
            <a:r>
              <a:rPr lang="vi-VN" sz="3600" dirty="0"/>
              <a:t>Các bảng chính của hệ thống: </a:t>
            </a:r>
            <a:r>
              <a:rPr lang="en-US" sz="3600" noProof="1"/>
              <a:t>Car_variants, Car_stock…</a:t>
            </a:r>
          </a:p>
          <a:p>
            <a:pPr marL="914400" lvl="1" indent="-457200">
              <a:buFont typeface="Arial" panose="020B0604020202020204" pitchFamily="34" charset="0"/>
              <a:buChar char="•"/>
            </a:pPr>
            <a:endParaRPr lang="vi-VN" sz="3200" dirty="0"/>
          </a:p>
          <a:p>
            <a:endParaRPr lang="vi-VN" sz="3200" dirty="0"/>
          </a:p>
          <a:p>
            <a:pPr marL="285750" indent="-285750">
              <a:buFont typeface="Wingdings" panose="05000000000000000000" pitchFamily="2" charset="2"/>
              <a:buChar char="Ø"/>
            </a:pPr>
            <a:endParaRPr lang="vi-VN" sz="2000" dirty="0"/>
          </a:p>
        </p:txBody>
      </p:sp>
    </p:spTree>
    <p:extLst>
      <p:ext uri="{BB962C8B-B14F-4D97-AF65-F5344CB8AC3E}">
        <p14:creationId xmlns:p14="http://schemas.microsoft.com/office/powerpoint/2010/main" val="90775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C79B0-09FD-4F21-6B19-67C5F92FC67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24CFB24-8409-328D-3E01-DF3EFEC2113B}"/>
              </a:ext>
            </a:extLst>
          </p:cNvPr>
          <p:cNvSpPr/>
          <p:nvPr/>
        </p:nvSpPr>
        <p:spPr>
          <a:xfrm>
            <a:off x="26790" y="-601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grpSp>
        <p:nvGrpSpPr>
          <p:cNvPr id="9" name="Group 8">
            <a:extLst>
              <a:ext uri="{FF2B5EF4-FFF2-40B4-BE49-F238E27FC236}">
                <a16:creationId xmlns:a16="http://schemas.microsoft.com/office/drawing/2014/main" id="{9EDADDC5-C3DA-43D0-7B30-054172438D60}"/>
              </a:ext>
            </a:extLst>
          </p:cNvPr>
          <p:cNvGrpSpPr/>
          <p:nvPr/>
        </p:nvGrpSpPr>
        <p:grpSpPr>
          <a:xfrm>
            <a:off x="922176" y="1543527"/>
            <a:ext cx="12157434" cy="1196225"/>
            <a:chOff x="8336911" y="2873624"/>
            <a:chExt cx="12157434" cy="1196225"/>
          </a:xfrm>
        </p:grpSpPr>
        <p:sp>
          <p:nvSpPr>
            <p:cNvPr id="10" name="TextBox 7">
              <a:extLst>
                <a:ext uri="{FF2B5EF4-FFF2-40B4-BE49-F238E27FC236}">
                  <a16:creationId xmlns:a16="http://schemas.microsoft.com/office/drawing/2014/main" id="{DCAFA26D-BB82-5F16-966E-1E9A8B1CB8F1}"/>
                </a:ext>
              </a:extLst>
            </p:cNvPr>
            <p:cNvSpPr txBox="1"/>
            <p:nvPr/>
          </p:nvSpPr>
          <p:spPr>
            <a:xfrm>
              <a:off x="8633935" y="2873624"/>
              <a:ext cx="11860410" cy="1196225"/>
            </a:xfrm>
            <a:prstGeom prst="rect">
              <a:avLst/>
            </a:prstGeom>
          </p:spPr>
          <p:txBody>
            <a:bodyPr wrap="square" lIns="0" tIns="0" rIns="0" bIns="0" rtlCol="0" anchor="t">
              <a:spAutoFit/>
            </a:bodyPr>
            <a:lstStyle/>
            <a:p>
              <a:pPr>
                <a:lnSpc>
                  <a:spcPts val="10800"/>
                </a:lnSpc>
              </a:pPr>
              <a:r>
                <a:rPr lang="vi-VN" sz="4800" dirty="0">
                  <a:solidFill>
                    <a:srgbClr val="16458C"/>
                  </a:solidFill>
                </a:rPr>
                <a:t>Thiết kế giao diện hệ thống</a:t>
              </a:r>
              <a:endParaRPr lang="en-US" sz="4800" dirty="0">
                <a:solidFill>
                  <a:srgbClr val="16458C"/>
                </a:solidFill>
                <a:latin typeface="Cambria" panose="02040503050406030204" pitchFamily="18" charset="0"/>
                <a:ea typeface="Cambria" panose="02040503050406030204" pitchFamily="18" charset="0"/>
                <a:cs typeface="Cambria"/>
                <a:sym typeface="Cambria"/>
              </a:endParaRPr>
            </a:p>
          </p:txBody>
        </p:sp>
        <p:cxnSp>
          <p:nvCxnSpPr>
            <p:cNvPr id="12" name="Straight Connector 11">
              <a:extLst>
                <a:ext uri="{FF2B5EF4-FFF2-40B4-BE49-F238E27FC236}">
                  <a16:creationId xmlns:a16="http://schemas.microsoft.com/office/drawing/2014/main" id="{725ED61E-5113-2D8A-836D-D978A876EFC3}"/>
                </a:ext>
              </a:extLst>
            </p:cNvPr>
            <p:cNvCxnSpPr>
              <a:cxnSpLocks/>
            </p:cNvCxnSpPr>
            <p:nvPr/>
          </p:nvCxnSpPr>
          <p:spPr>
            <a:xfrm>
              <a:off x="8336911" y="3330814"/>
              <a:ext cx="0" cy="677608"/>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grpSp>
      <p:pic>
        <p:nvPicPr>
          <p:cNvPr id="6" name="Picture 5" descr="A screenshot of a computer&#10;&#10;AI-generated content may be incorrect.">
            <a:extLst>
              <a:ext uri="{FF2B5EF4-FFF2-40B4-BE49-F238E27FC236}">
                <a16:creationId xmlns:a16="http://schemas.microsoft.com/office/drawing/2014/main" id="{0C91C466-7302-D7C0-87C6-F1FB28B8DA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0800" y="2739752"/>
            <a:ext cx="11860410" cy="6532366"/>
          </a:xfrm>
          <a:prstGeom prst="rect">
            <a:avLst/>
          </a:prstGeom>
        </p:spPr>
      </p:pic>
      <p:sp>
        <p:nvSpPr>
          <p:cNvPr id="8" name="TextBox 7">
            <a:extLst>
              <a:ext uri="{FF2B5EF4-FFF2-40B4-BE49-F238E27FC236}">
                <a16:creationId xmlns:a16="http://schemas.microsoft.com/office/drawing/2014/main" id="{74753BE1-592C-762A-A234-6A7B2B0CD467}"/>
              </a:ext>
            </a:extLst>
          </p:cNvPr>
          <p:cNvSpPr txBox="1"/>
          <p:nvPr/>
        </p:nvSpPr>
        <p:spPr>
          <a:xfrm>
            <a:off x="918318" y="3086100"/>
            <a:ext cx="5173822" cy="4975657"/>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vi-VN" sz="3600" dirty="0"/>
              <a:t>Công cụ : Mockup.</a:t>
            </a:r>
          </a:p>
          <a:p>
            <a:pPr marL="285750" indent="-285750">
              <a:lnSpc>
                <a:spcPct val="150000"/>
              </a:lnSpc>
              <a:buFont typeface="Wingdings" panose="05000000000000000000" pitchFamily="2" charset="2"/>
              <a:buChar char="Ø"/>
            </a:pPr>
            <a:r>
              <a:rPr lang="vi-VN" sz="3600" dirty="0"/>
              <a:t>Thiết kế giao diện mua xe ô tô với AI.</a:t>
            </a:r>
          </a:p>
          <a:p>
            <a:pPr marL="285750" indent="-285750">
              <a:lnSpc>
                <a:spcPct val="150000"/>
              </a:lnSpc>
              <a:buFont typeface="Wingdings" panose="05000000000000000000" pitchFamily="2" charset="2"/>
              <a:buChar char="Ø"/>
            </a:pPr>
            <a:r>
              <a:rPr lang="vi-VN" sz="3600" dirty="0"/>
              <a:t>Đặc điểm thiết kế:</a:t>
            </a:r>
          </a:p>
          <a:p>
            <a:pPr marL="742950" lvl="1" indent="-285750">
              <a:lnSpc>
                <a:spcPct val="150000"/>
              </a:lnSpc>
              <a:buFont typeface="Arial" panose="020B0604020202020204" pitchFamily="34" charset="0"/>
              <a:buChar char="•"/>
            </a:pPr>
            <a:r>
              <a:rPr lang="vi-VN" sz="3600" dirty="0"/>
              <a:t>Giao diện trực quan.</a:t>
            </a:r>
          </a:p>
          <a:p>
            <a:pPr marL="742950" lvl="1" indent="-285750">
              <a:lnSpc>
                <a:spcPct val="150000"/>
              </a:lnSpc>
              <a:buFont typeface="Arial" panose="020B0604020202020204" pitchFamily="34" charset="0"/>
              <a:buChar char="•"/>
            </a:pPr>
            <a:r>
              <a:rPr lang="vi-VN" sz="3600" dirty="0"/>
              <a:t>Tính tương thích.</a:t>
            </a:r>
          </a:p>
        </p:txBody>
      </p:sp>
    </p:spTree>
    <p:extLst>
      <p:ext uri="{BB962C8B-B14F-4D97-AF65-F5344CB8AC3E}">
        <p14:creationId xmlns:p14="http://schemas.microsoft.com/office/powerpoint/2010/main" val="1040066550"/>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C79B0-09FD-4F21-6B19-67C5F92FC67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24CFB24-8409-328D-3E01-DF3EFEC2113B}"/>
              </a:ext>
            </a:extLst>
          </p:cNvPr>
          <p:cNvSpPr/>
          <p:nvPr/>
        </p:nvSpPr>
        <p:spPr>
          <a:xfrm>
            <a:off x="26790" y="-601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grpSp>
        <p:nvGrpSpPr>
          <p:cNvPr id="9" name="Group 8">
            <a:extLst>
              <a:ext uri="{FF2B5EF4-FFF2-40B4-BE49-F238E27FC236}">
                <a16:creationId xmlns:a16="http://schemas.microsoft.com/office/drawing/2014/main" id="{9EDADDC5-C3DA-43D0-7B30-054172438D60}"/>
              </a:ext>
            </a:extLst>
          </p:cNvPr>
          <p:cNvGrpSpPr/>
          <p:nvPr/>
        </p:nvGrpSpPr>
        <p:grpSpPr>
          <a:xfrm>
            <a:off x="922176" y="1543527"/>
            <a:ext cx="12157434" cy="1196225"/>
            <a:chOff x="8336911" y="2873624"/>
            <a:chExt cx="12157434" cy="1196225"/>
          </a:xfrm>
        </p:grpSpPr>
        <p:sp>
          <p:nvSpPr>
            <p:cNvPr id="10" name="TextBox 7">
              <a:extLst>
                <a:ext uri="{FF2B5EF4-FFF2-40B4-BE49-F238E27FC236}">
                  <a16:creationId xmlns:a16="http://schemas.microsoft.com/office/drawing/2014/main" id="{DCAFA26D-BB82-5F16-966E-1E9A8B1CB8F1}"/>
                </a:ext>
              </a:extLst>
            </p:cNvPr>
            <p:cNvSpPr txBox="1"/>
            <p:nvPr/>
          </p:nvSpPr>
          <p:spPr>
            <a:xfrm>
              <a:off x="8633935" y="2873624"/>
              <a:ext cx="11860410" cy="1196225"/>
            </a:xfrm>
            <a:prstGeom prst="rect">
              <a:avLst/>
            </a:prstGeom>
          </p:spPr>
          <p:txBody>
            <a:bodyPr wrap="square" lIns="0" tIns="0" rIns="0" bIns="0" rtlCol="0" anchor="t">
              <a:spAutoFit/>
            </a:bodyPr>
            <a:lstStyle/>
            <a:p>
              <a:pPr>
                <a:lnSpc>
                  <a:spcPts val="10800"/>
                </a:lnSpc>
              </a:pPr>
              <a:r>
                <a:rPr lang="vi-VN" sz="4800" dirty="0">
                  <a:solidFill>
                    <a:srgbClr val="16458C"/>
                  </a:solidFill>
                </a:rPr>
                <a:t>Ứng dụng Học Máy trong hệ thống</a:t>
              </a:r>
              <a:endParaRPr lang="en-US" sz="4800" dirty="0">
                <a:solidFill>
                  <a:srgbClr val="16458C"/>
                </a:solidFill>
                <a:latin typeface="Cambria" panose="02040503050406030204" pitchFamily="18" charset="0"/>
                <a:ea typeface="Cambria" panose="02040503050406030204" pitchFamily="18" charset="0"/>
                <a:cs typeface="Cambria"/>
                <a:sym typeface="Cambria"/>
              </a:endParaRPr>
            </a:p>
          </p:txBody>
        </p:sp>
        <p:cxnSp>
          <p:nvCxnSpPr>
            <p:cNvPr id="12" name="Straight Connector 11">
              <a:extLst>
                <a:ext uri="{FF2B5EF4-FFF2-40B4-BE49-F238E27FC236}">
                  <a16:creationId xmlns:a16="http://schemas.microsoft.com/office/drawing/2014/main" id="{725ED61E-5113-2D8A-836D-D978A876EFC3}"/>
                </a:ext>
              </a:extLst>
            </p:cNvPr>
            <p:cNvCxnSpPr>
              <a:cxnSpLocks/>
            </p:cNvCxnSpPr>
            <p:nvPr/>
          </p:nvCxnSpPr>
          <p:spPr>
            <a:xfrm>
              <a:off x="8336911" y="3330814"/>
              <a:ext cx="0" cy="677608"/>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grpSp>
      <p:cxnSp>
        <p:nvCxnSpPr>
          <p:cNvPr id="3" name="Straight Connector 2">
            <a:extLst>
              <a:ext uri="{FF2B5EF4-FFF2-40B4-BE49-F238E27FC236}">
                <a16:creationId xmlns:a16="http://schemas.microsoft.com/office/drawing/2014/main" id="{06FBC272-74E4-1EEB-62C5-285C145B43C1}"/>
              </a:ext>
            </a:extLst>
          </p:cNvPr>
          <p:cNvCxnSpPr>
            <a:cxnSpLocks/>
          </p:cNvCxnSpPr>
          <p:nvPr/>
        </p:nvCxnSpPr>
        <p:spPr>
          <a:xfrm flipH="1">
            <a:off x="1524000" y="3601544"/>
            <a:ext cx="5257800" cy="0"/>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F380900-A9FA-EF2D-4803-8460381725AE}"/>
              </a:ext>
            </a:extLst>
          </p:cNvPr>
          <p:cNvSpPr txBox="1"/>
          <p:nvPr/>
        </p:nvSpPr>
        <p:spPr>
          <a:xfrm>
            <a:off x="761999" y="3730255"/>
            <a:ext cx="8109368" cy="5910401"/>
          </a:xfrm>
          <a:prstGeom prst="rect">
            <a:avLst/>
          </a:prstGeom>
          <a:noFill/>
        </p:spPr>
        <p:txBody>
          <a:bodyPr wrap="square" rtlCol="0">
            <a:spAutoFit/>
          </a:bodyPr>
          <a:lstStyle/>
          <a:p>
            <a:pPr marL="571500" indent="-571500">
              <a:lnSpc>
                <a:spcPct val="150000"/>
              </a:lnSpc>
              <a:buFont typeface="Arial" panose="020B0604020202020204" pitchFamily="34" charset="0"/>
              <a:buChar char="•"/>
            </a:pPr>
            <a:r>
              <a:rPr lang="vi-VN" sz="3200" dirty="0"/>
              <a:t>Loại bài toán: </a:t>
            </a:r>
            <a:r>
              <a:rPr lang="en-US" sz="3200" noProof="1">
                <a:latin typeface="Arial" panose="020B0604020202020204" pitchFamily="34" charset="0"/>
                <a:cs typeface="Arial" panose="020B0604020202020204" pitchFamily="34" charset="0"/>
              </a:rPr>
              <a:t>Content-based Filtering.</a:t>
            </a:r>
          </a:p>
          <a:p>
            <a:pPr marL="571500" indent="-571500">
              <a:lnSpc>
                <a:spcPct val="150000"/>
              </a:lnSpc>
              <a:buFont typeface="Arial" panose="020B0604020202020204" pitchFamily="34" charset="0"/>
              <a:buChar char="•"/>
            </a:pPr>
            <a:r>
              <a:rPr lang="vi-VN" sz="3200" dirty="0">
                <a:latin typeface="Arial" panose="020B0604020202020204" pitchFamily="34" charset="0"/>
                <a:cs typeface="Arial" panose="020B0604020202020204" pitchFamily="34" charset="0"/>
              </a:rPr>
              <a:t>Đầu vào </a:t>
            </a:r>
            <a:r>
              <a:rPr lang="vi-VN" sz="3200" dirty="0"/>
              <a:t>: Câu mô tả nhu cầu của người dùng.</a:t>
            </a:r>
          </a:p>
          <a:p>
            <a:pPr marL="571500" indent="-571500">
              <a:lnSpc>
                <a:spcPct val="150000"/>
              </a:lnSpc>
              <a:buFont typeface="Arial" panose="020B0604020202020204" pitchFamily="34" charset="0"/>
              <a:buChar char="•"/>
            </a:pPr>
            <a:r>
              <a:rPr lang="vi-VN" sz="3200" noProof="1">
                <a:latin typeface="Arial" panose="020B0604020202020204" pitchFamily="34" charset="0"/>
                <a:cs typeface="Arial" panose="020B0604020202020204" pitchFamily="34" charset="0"/>
              </a:rPr>
              <a:t>Đầu ra</a:t>
            </a:r>
            <a:r>
              <a:rPr lang="vi-VN" sz="3200" dirty="0"/>
              <a:t>: Danh sách xe được xếp hạng theo độ phù hợp.</a:t>
            </a:r>
          </a:p>
          <a:p>
            <a:pPr marL="571500" indent="-571500">
              <a:lnSpc>
                <a:spcPct val="150000"/>
              </a:lnSpc>
              <a:buFont typeface="Arial" panose="020B0604020202020204" pitchFamily="34" charset="0"/>
              <a:buChar char="•"/>
            </a:pPr>
            <a:r>
              <a:rPr lang="vi-VN" sz="3200" dirty="0"/>
              <a:t>Lý do chọn: Không có dữ liệu hành vi người dùng → không dùng được </a:t>
            </a:r>
            <a:r>
              <a:rPr lang="en-US" sz="3200" noProof="1">
                <a:latin typeface="Arial" panose="020B0604020202020204" pitchFamily="34" charset="0"/>
                <a:cs typeface="Arial" panose="020B0604020202020204" pitchFamily="34" charset="0"/>
              </a:rPr>
              <a:t>Collaborative Filtering.</a:t>
            </a:r>
          </a:p>
        </p:txBody>
      </p:sp>
      <p:sp>
        <p:nvSpPr>
          <p:cNvPr id="5" name="TextBox 4">
            <a:extLst>
              <a:ext uri="{FF2B5EF4-FFF2-40B4-BE49-F238E27FC236}">
                <a16:creationId xmlns:a16="http://schemas.microsoft.com/office/drawing/2014/main" id="{D2C0139D-7817-4AEE-8A39-4126B1F76922}"/>
              </a:ext>
            </a:extLst>
          </p:cNvPr>
          <p:cNvSpPr txBox="1"/>
          <p:nvPr/>
        </p:nvSpPr>
        <p:spPr>
          <a:xfrm>
            <a:off x="3048000" y="2855961"/>
            <a:ext cx="4286750" cy="707886"/>
          </a:xfrm>
          <a:prstGeom prst="rect">
            <a:avLst/>
          </a:prstGeom>
          <a:noFill/>
        </p:spPr>
        <p:txBody>
          <a:bodyPr wrap="square" rtlCol="0">
            <a:spAutoFit/>
          </a:bodyPr>
          <a:lstStyle/>
          <a:p>
            <a:pPr algn="just"/>
            <a:r>
              <a:rPr lang="vi-VN" sz="4000" noProof="1">
                <a:solidFill>
                  <a:srgbClr val="16458C"/>
                </a:solidFill>
                <a:ea typeface="Cambria" panose="02040503050406030204" pitchFamily="18" charset="0"/>
              </a:rPr>
              <a:t>Bài toán</a:t>
            </a:r>
          </a:p>
        </p:txBody>
      </p:sp>
      <p:cxnSp>
        <p:nvCxnSpPr>
          <p:cNvPr id="19" name="Straight Connector 18">
            <a:extLst>
              <a:ext uri="{FF2B5EF4-FFF2-40B4-BE49-F238E27FC236}">
                <a16:creationId xmlns:a16="http://schemas.microsoft.com/office/drawing/2014/main" id="{3F9D829D-D12B-2586-C6FC-E47AC030F96C}"/>
              </a:ext>
            </a:extLst>
          </p:cNvPr>
          <p:cNvCxnSpPr>
            <a:cxnSpLocks/>
          </p:cNvCxnSpPr>
          <p:nvPr/>
        </p:nvCxnSpPr>
        <p:spPr>
          <a:xfrm flipH="1">
            <a:off x="10224354" y="3563847"/>
            <a:ext cx="6463446" cy="0"/>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3AB42BBC-6806-81A1-8E80-B2254F2A1CA5}"/>
              </a:ext>
            </a:extLst>
          </p:cNvPr>
          <p:cNvSpPr txBox="1"/>
          <p:nvPr/>
        </p:nvSpPr>
        <p:spPr>
          <a:xfrm>
            <a:off x="9416634" y="3680057"/>
            <a:ext cx="8109368" cy="5910401"/>
          </a:xfrm>
          <a:prstGeom prst="rect">
            <a:avLst/>
          </a:prstGeom>
          <a:noFill/>
        </p:spPr>
        <p:txBody>
          <a:bodyPr wrap="square" rtlCol="0">
            <a:spAutoFit/>
          </a:bodyPr>
          <a:lstStyle/>
          <a:p>
            <a:pPr marL="571500" indent="-571500">
              <a:lnSpc>
                <a:spcPct val="150000"/>
              </a:lnSpc>
              <a:buFont typeface="Arial" panose="020B0604020202020204" pitchFamily="34" charset="0"/>
              <a:buChar char="•"/>
            </a:pPr>
            <a:r>
              <a:rPr lang="en-US" sz="3200" noProof="1">
                <a:latin typeface="Arial" panose="020B0604020202020204" pitchFamily="34" charset="0"/>
                <a:cs typeface="Arial" panose="020B0604020202020204" pitchFamily="34" charset="0"/>
              </a:rPr>
              <a:t>MinMaxScaler</a:t>
            </a:r>
            <a:r>
              <a:rPr lang="vi-VN" sz="3200" dirty="0">
                <a:latin typeface="Arial" panose="020B0604020202020204" pitchFamily="34" charset="0"/>
                <a:cs typeface="Arial" panose="020B0604020202020204" pitchFamily="34" charset="0"/>
              </a:rPr>
              <a:t>: chuẩn hóa </a:t>
            </a:r>
            <a:r>
              <a:rPr lang="vi-VN" sz="3200" dirty="0"/>
              <a:t>đặc trưng số</a:t>
            </a:r>
            <a:r>
              <a:rPr lang="vi-VN" sz="3200" dirty="0">
                <a:latin typeface="Arial" panose="020B0604020202020204" pitchFamily="34" charset="0"/>
                <a:cs typeface="Arial" panose="020B0604020202020204" pitchFamily="34" charset="0"/>
              </a:rPr>
              <a:t> về [0, 1].</a:t>
            </a:r>
            <a:endParaRPr lang="en-US" sz="3200" noProof="1">
              <a:latin typeface="Arial" panose="020B0604020202020204" pitchFamily="34" charset="0"/>
              <a:cs typeface="Arial" panose="020B0604020202020204" pitchFamily="34" charset="0"/>
            </a:endParaRPr>
          </a:p>
          <a:p>
            <a:pPr marL="571500" indent="-571500">
              <a:lnSpc>
                <a:spcPct val="150000"/>
              </a:lnSpc>
              <a:buFont typeface="Arial" panose="020B0604020202020204" pitchFamily="34" charset="0"/>
              <a:buChar char="•"/>
            </a:pPr>
            <a:r>
              <a:rPr lang="en-US" sz="3200" noProof="1">
                <a:latin typeface="Arial" panose="020B0604020202020204" pitchFamily="34" charset="0"/>
                <a:cs typeface="Arial" panose="020B0604020202020204" pitchFamily="34" charset="0"/>
              </a:rPr>
              <a:t>One-hot Encoding</a:t>
            </a:r>
            <a:r>
              <a:rPr lang="vi-VN" sz="3200" dirty="0">
                <a:latin typeface="Arial" panose="020B0604020202020204" pitchFamily="34" charset="0"/>
                <a:cs typeface="Arial" panose="020B0604020202020204" pitchFamily="34" charset="0"/>
              </a:rPr>
              <a:t>: mã hóa </a:t>
            </a:r>
            <a:r>
              <a:rPr lang="vi-VN" sz="3200" dirty="0"/>
              <a:t>đặc trưng phân loại.</a:t>
            </a:r>
            <a:endParaRPr lang="vi-VN" sz="3200" dirty="0">
              <a:latin typeface="Arial" panose="020B0604020202020204" pitchFamily="34" charset="0"/>
              <a:cs typeface="Arial" panose="020B0604020202020204" pitchFamily="34" charset="0"/>
            </a:endParaRPr>
          </a:p>
          <a:p>
            <a:pPr marL="571500" indent="-571500">
              <a:lnSpc>
                <a:spcPct val="150000"/>
              </a:lnSpc>
              <a:buFont typeface="Arial" panose="020B0604020202020204" pitchFamily="34" charset="0"/>
              <a:buChar char="•"/>
            </a:pPr>
            <a:r>
              <a:rPr lang="en-US" sz="3200" noProof="1">
                <a:latin typeface="Arial" panose="020B0604020202020204" pitchFamily="34" charset="0"/>
                <a:cs typeface="Arial" panose="020B0604020202020204" pitchFamily="34" charset="0"/>
              </a:rPr>
              <a:t>Feature Weighting</a:t>
            </a:r>
            <a:r>
              <a:rPr lang="vi-VN" sz="3200" dirty="0">
                <a:latin typeface="Arial" panose="020B0604020202020204" pitchFamily="34" charset="0"/>
                <a:cs typeface="Arial" panose="020B0604020202020204" pitchFamily="34" charset="0"/>
              </a:rPr>
              <a:t>: tăng trọng số theo yêu cầu  người dùng.</a:t>
            </a:r>
          </a:p>
          <a:p>
            <a:pPr marL="571500" indent="-571500">
              <a:lnSpc>
                <a:spcPct val="150000"/>
              </a:lnSpc>
              <a:buFont typeface="Arial" panose="020B0604020202020204" pitchFamily="34" charset="0"/>
              <a:buChar char="•"/>
            </a:pPr>
            <a:r>
              <a:rPr lang="en-US" sz="3200" dirty="0">
                <a:latin typeface="Arial" panose="020B0604020202020204" pitchFamily="34" charset="0"/>
                <a:cs typeface="Arial" panose="020B0604020202020204" pitchFamily="34" charset="0"/>
              </a:rPr>
              <a:t>Cosine Similarity</a:t>
            </a:r>
            <a:r>
              <a:rPr lang="vi-VN" sz="3200" dirty="0">
                <a:latin typeface="Arial" panose="020B0604020202020204" pitchFamily="34" charset="0"/>
                <a:cs typeface="Arial" panose="020B0604020202020204" pitchFamily="34" charset="0"/>
              </a:rPr>
              <a:t>: đo độ tương đồng giữa xe và nhu cầu.</a:t>
            </a:r>
            <a:endParaRPr lang="en-US" sz="3200" noProof="1">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8A7CC31-651C-FE70-0504-CE934C8A88F6}"/>
              </a:ext>
            </a:extLst>
          </p:cNvPr>
          <p:cNvSpPr txBox="1"/>
          <p:nvPr/>
        </p:nvSpPr>
        <p:spPr>
          <a:xfrm>
            <a:off x="10355960" y="2816705"/>
            <a:ext cx="6941440" cy="707886"/>
          </a:xfrm>
          <a:prstGeom prst="rect">
            <a:avLst/>
          </a:prstGeom>
          <a:noFill/>
        </p:spPr>
        <p:txBody>
          <a:bodyPr wrap="square" rtlCol="0">
            <a:spAutoFit/>
          </a:bodyPr>
          <a:lstStyle/>
          <a:p>
            <a:pPr algn="just"/>
            <a:r>
              <a:rPr lang="vi-VN" sz="4000" dirty="0">
                <a:solidFill>
                  <a:srgbClr val="16458C"/>
                </a:solidFill>
              </a:rPr>
              <a:t>Kỹ thuật học máy áp dụng</a:t>
            </a:r>
            <a:endParaRPr lang="vi-VN" sz="4000" noProof="1">
              <a:solidFill>
                <a:srgbClr val="16458C"/>
              </a:solidFill>
              <a:ea typeface="Cambria" panose="02040503050406030204" pitchFamily="18" charset="0"/>
            </a:endParaRPr>
          </a:p>
        </p:txBody>
      </p:sp>
    </p:spTree>
    <p:extLst>
      <p:ext uri="{BB962C8B-B14F-4D97-AF65-F5344CB8AC3E}">
        <p14:creationId xmlns:p14="http://schemas.microsoft.com/office/powerpoint/2010/main" val="3421198593"/>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C79B0-09FD-4F21-6B19-67C5F92FC67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24CFB24-8409-328D-3E01-DF3EFEC2113B}"/>
              </a:ext>
            </a:extLst>
          </p:cNvPr>
          <p:cNvSpPr/>
          <p:nvPr/>
        </p:nvSpPr>
        <p:spPr>
          <a:xfrm>
            <a:off x="32795" y="-10128"/>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grpSp>
        <p:nvGrpSpPr>
          <p:cNvPr id="9" name="Group 8">
            <a:extLst>
              <a:ext uri="{FF2B5EF4-FFF2-40B4-BE49-F238E27FC236}">
                <a16:creationId xmlns:a16="http://schemas.microsoft.com/office/drawing/2014/main" id="{9EDADDC5-C3DA-43D0-7B30-054172438D60}"/>
              </a:ext>
            </a:extLst>
          </p:cNvPr>
          <p:cNvGrpSpPr/>
          <p:nvPr/>
        </p:nvGrpSpPr>
        <p:grpSpPr>
          <a:xfrm>
            <a:off x="922176" y="1543527"/>
            <a:ext cx="12157434" cy="1196225"/>
            <a:chOff x="8336911" y="2873624"/>
            <a:chExt cx="12157434" cy="1196225"/>
          </a:xfrm>
        </p:grpSpPr>
        <p:sp>
          <p:nvSpPr>
            <p:cNvPr id="10" name="TextBox 7">
              <a:extLst>
                <a:ext uri="{FF2B5EF4-FFF2-40B4-BE49-F238E27FC236}">
                  <a16:creationId xmlns:a16="http://schemas.microsoft.com/office/drawing/2014/main" id="{DCAFA26D-BB82-5F16-966E-1E9A8B1CB8F1}"/>
                </a:ext>
              </a:extLst>
            </p:cNvPr>
            <p:cNvSpPr txBox="1"/>
            <p:nvPr/>
          </p:nvSpPr>
          <p:spPr>
            <a:xfrm>
              <a:off x="8633935" y="2873624"/>
              <a:ext cx="11860410" cy="1196225"/>
            </a:xfrm>
            <a:prstGeom prst="rect">
              <a:avLst/>
            </a:prstGeom>
          </p:spPr>
          <p:txBody>
            <a:bodyPr wrap="square" lIns="0" tIns="0" rIns="0" bIns="0" rtlCol="0" anchor="t">
              <a:spAutoFit/>
            </a:bodyPr>
            <a:lstStyle/>
            <a:p>
              <a:pPr>
                <a:lnSpc>
                  <a:spcPts val="10800"/>
                </a:lnSpc>
              </a:pPr>
              <a:r>
                <a:rPr lang="vi-VN" sz="4800" dirty="0">
                  <a:solidFill>
                    <a:srgbClr val="16458C"/>
                  </a:solidFill>
                </a:rPr>
                <a:t>Ứng dụng Học Máy trong hệ thống</a:t>
              </a:r>
              <a:endParaRPr lang="en-US" sz="4800" dirty="0">
                <a:solidFill>
                  <a:srgbClr val="16458C"/>
                </a:solidFill>
                <a:latin typeface="Cambria" panose="02040503050406030204" pitchFamily="18" charset="0"/>
                <a:ea typeface="Cambria" panose="02040503050406030204" pitchFamily="18" charset="0"/>
                <a:cs typeface="Cambria"/>
                <a:sym typeface="Cambria"/>
              </a:endParaRPr>
            </a:p>
          </p:txBody>
        </p:sp>
        <p:cxnSp>
          <p:nvCxnSpPr>
            <p:cNvPr id="12" name="Straight Connector 11">
              <a:extLst>
                <a:ext uri="{FF2B5EF4-FFF2-40B4-BE49-F238E27FC236}">
                  <a16:creationId xmlns:a16="http://schemas.microsoft.com/office/drawing/2014/main" id="{725ED61E-5113-2D8A-836D-D978A876EFC3}"/>
                </a:ext>
              </a:extLst>
            </p:cNvPr>
            <p:cNvCxnSpPr>
              <a:cxnSpLocks/>
            </p:cNvCxnSpPr>
            <p:nvPr/>
          </p:nvCxnSpPr>
          <p:spPr>
            <a:xfrm>
              <a:off x="8336911" y="3330814"/>
              <a:ext cx="0" cy="677608"/>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grpSp>
      <p:cxnSp>
        <p:nvCxnSpPr>
          <p:cNvPr id="3" name="Straight Connector 2">
            <a:extLst>
              <a:ext uri="{FF2B5EF4-FFF2-40B4-BE49-F238E27FC236}">
                <a16:creationId xmlns:a16="http://schemas.microsoft.com/office/drawing/2014/main" id="{06FBC272-74E4-1EEB-62C5-285C145B43C1}"/>
              </a:ext>
            </a:extLst>
          </p:cNvPr>
          <p:cNvCxnSpPr>
            <a:cxnSpLocks/>
          </p:cNvCxnSpPr>
          <p:nvPr/>
        </p:nvCxnSpPr>
        <p:spPr>
          <a:xfrm flipH="1">
            <a:off x="1524000" y="3831683"/>
            <a:ext cx="5257800" cy="0"/>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F380900-A9FA-EF2D-4803-8460381725AE}"/>
              </a:ext>
            </a:extLst>
          </p:cNvPr>
          <p:cNvSpPr txBox="1"/>
          <p:nvPr/>
        </p:nvSpPr>
        <p:spPr>
          <a:xfrm>
            <a:off x="761999" y="3960394"/>
            <a:ext cx="8109368" cy="4433073"/>
          </a:xfrm>
          <a:prstGeom prst="rect">
            <a:avLst/>
          </a:prstGeom>
          <a:noFill/>
        </p:spPr>
        <p:txBody>
          <a:bodyPr wrap="square" rtlCol="0">
            <a:spAutoFit/>
          </a:bodyPr>
          <a:lstStyle/>
          <a:p>
            <a:pPr marL="571500" indent="-571500">
              <a:lnSpc>
                <a:spcPct val="150000"/>
              </a:lnSpc>
              <a:buFont typeface="Arial" panose="020B0604020202020204" pitchFamily="34" charset="0"/>
              <a:buChar char="•"/>
            </a:pPr>
            <a:r>
              <a:rPr lang="en-US" sz="3200" noProof="1">
                <a:latin typeface="Arial" panose="020B0604020202020204" pitchFamily="34" charset="0"/>
                <a:cs typeface="Arial" panose="020B0604020202020204" pitchFamily="34" charset="0"/>
              </a:rPr>
              <a:t>Điểm tương thích: Giá trị cosine x 100%.</a:t>
            </a:r>
          </a:p>
          <a:p>
            <a:pPr marL="571500" indent="-571500">
              <a:lnSpc>
                <a:spcPct val="150000"/>
              </a:lnSpc>
              <a:buFont typeface="Arial" panose="020B0604020202020204" pitchFamily="34" charset="0"/>
              <a:buChar char="•"/>
            </a:pPr>
            <a:r>
              <a:rPr lang="en-US" sz="3200" noProof="1">
                <a:latin typeface="Arial" panose="020B0604020202020204" pitchFamily="34" charset="0"/>
                <a:cs typeface="Arial" panose="020B0604020202020204" pitchFamily="34" charset="0"/>
              </a:rPr>
              <a:t>Hệ thống trả về 3 xe có độ tương thích cao nhất.</a:t>
            </a:r>
          </a:p>
          <a:p>
            <a:pPr marL="571500" indent="-571500">
              <a:lnSpc>
                <a:spcPct val="150000"/>
              </a:lnSpc>
              <a:buFont typeface="Arial" panose="020B0604020202020204" pitchFamily="34" charset="0"/>
              <a:buChar char="•"/>
            </a:pPr>
            <a:r>
              <a:rPr lang="en-US" sz="3200" noProof="1">
                <a:latin typeface="Arial" panose="020B0604020202020204" pitchFamily="34" charset="0"/>
                <a:cs typeface="Arial" panose="020B0604020202020204" pitchFamily="34" charset="0"/>
              </a:rPr>
              <a:t>Tốc độ gần như tức thì: 10 phút nạp dữ liệu của xe vào Ram.</a:t>
            </a:r>
          </a:p>
          <a:p>
            <a:pPr>
              <a:lnSpc>
                <a:spcPct val="150000"/>
              </a:lnSpc>
            </a:pPr>
            <a:endParaRPr lang="en-US" sz="3200" noProof="1">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D2C0139D-7817-4AEE-8A39-4126B1F76922}"/>
              </a:ext>
            </a:extLst>
          </p:cNvPr>
          <p:cNvSpPr txBox="1"/>
          <p:nvPr/>
        </p:nvSpPr>
        <p:spPr>
          <a:xfrm>
            <a:off x="3048000" y="3086100"/>
            <a:ext cx="4286750" cy="707886"/>
          </a:xfrm>
          <a:prstGeom prst="rect">
            <a:avLst/>
          </a:prstGeom>
          <a:noFill/>
        </p:spPr>
        <p:txBody>
          <a:bodyPr wrap="square" rtlCol="0">
            <a:spAutoFit/>
          </a:bodyPr>
          <a:lstStyle/>
          <a:p>
            <a:pPr algn="just"/>
            <a:r>
              <a:rPr lang="vi-VN" sz="4000" noProof="1">
                <a:solidFill>
                  <a:srgbClr val="16458C"/>
                </a:solidFill>
                <a:ea typeface="Cambria" panose="02040503050406030204" pitchFamily="18" charset="0"/>
              </a:rPr>
              <a:t>Kết quả</a:t>
            </a:r>
          </a:p>
        </p:txBody>
      </p:sp>
      <p:pic>
        <p:nvPicPr>
          <p:cNvPr id="6" name="Picture 5">
            <a:extLst>
              <a:ext uri="{FF2B5EF4-FFF2-40B4-BE49-F238E27FC236}">
                <a16:creationId xmlns:a16="http://schemas.microsoft.com/office/drawing/2014/main" id="{C870650D-D322-7196-4E7F-2AE2FC22096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76795" y="3793986"/>
            <a:ext cx="8838569" cy="5029199"/>
          </a:xfrm>
          <a:prstGeom prst="rect">
            <a:avLst/>
          </a:prstGeom>
          <a:noFill/>
          <a:ln>
            <a:noFill/>
          </a:ln>
        </p:spPr>
      </p:pic>
    </p:spTree>
    <p:extLst>
      <p:ext uri="{BB962C8B-B14F-4D97-AF65-F5344CB8AC3E}">
        <p14:creationId xmlns:p14="http://schemas.microsoft.com/office/powerpoint/2010/main" val="1009638613"/>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BE53C-97FD-A783-F132-605F86E0013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056A422-880A-81F8-7AD6-F472C730DF10}"/>
              </a:ext>
            </a:extLst>
          </p:cNvPr>
          <p:cNvSpPr/>
          <p:nvPr/>
        </p:nvSpPr>
        <p:spPr>
          <a:xfrm>
            <a:off x="0" y="-762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7" name="TextBox 3">
            <a:extLst>
              <a:ext uri="{FF2B5EF4-FFF2-40B4-BE49-F238E27FC236}">
                <a16:creationId xmlns:a16="http://schemas.microsoft.com/office/drawing/2014/main" id="{E9C5CB11-6355-755A-6B56-EC59BD37C173}"/>
              </a:ext>
            </a:extLst>
          </p:cNvPr>
          <p:cNvSpPr txBox="1"/>
          <p:nvPr/>
        </p:nvSpPr>
        <p:spPr>
          <a:xfrm>
            <a:off x="2032996" y="2152077"/>
            <a:ext cx="6597480" cy="743793"/>
          </a:xfrm>
          <a:prstGeom prst="rect">
            <a:avLst/>
          </a:prstGeom>
        </p:spPr>
        <p:txBody>
          <a:bodyPr lIns="0" tIns="0" rIns="0" bIns="0" rtlCol="0" anchor="t">
            <a:spAutoFit/>
          </a:bodyPr>
          <a:lstStyle/>
          <a:p>
            <a:pPr algn="l">
              <a:lnSpc>
                <a:spcPts val="5759"/>
              </a:lnSpc>
            </a:pPr>
            <a:r>
              <a:rPr lang="vi-VN" sz="5400" b="1" noProof="1">
                <a:solidFill>
                  <a:srgbClr val="16458C"/>
                </a:solidFill>
                <a:latin typeface="Arial" panose="020B0604020202020204" pitchFamily="34" charset="0"/>
                <a:ea typeface="Cambria" panose="02040503050406030204" pitchFamily="18" charset="0"/>
                <a:cs typeface="Arial" panose="020B0604020202020204" pitchFamily="34" charset="0"/>
                <a:sym typeface="Cambria Bold"/>
              </a:rPr>
              <a:t>Kiểm thử hệ thống</a:t>
            </a:r>
          </a:p>
        </p:txBody>
      </p:sp>
      <p:grpSp>
        <p:nvGrpSpPr>
          <p:cNvPr id="8" name="Group 19">
            <a:extLst>
              <a:ext uri="{FF2B5EF4-FFF2-40B4-BE49-F238E27FC236}">
                <a16:creationId xmlns:a16="http://schemas.microsoft.com/office/drawing/2014/main" id="{E498F2BA-D885-F1E9-DDC6-CA1AD9B2E206}"/>
              </a:ext>
            </a:extLst>
          </p:cNvPr>
          <p:cNvGrpSpPr/>
          <p:nvPr/>
        </p:nvGrpSpPr>
        <p:grpSpPr>
          <a:xfrm>
            <a:off x="838200" y="1866900"/>
            <a:ext cx="896472" cy="1028998"/>
            <a:chOff x="0" y="-164663"/>
            <a:chExt cx="1371600" cy="1574363"/>
          </a:xfrm>
        </p:grpSpPr>
        <p:sp>
          <p:nvSpPr>
            <p:cNvPr id="12" name="Freeform 20">
              <a:extLst>
                <a:ext uri="{FF2B5EF4-FFF2-40B4-BE49-F238E27FC236}">
                  <a16:creationId xmlns:a16="http://schemas.microsoft.com/office/drawing/2014/main" id="{BBBE1D83-B105-AF23-0E3F-5AB2CE80DBA8}"/>
                </a:ext>
              </a:extLst>
            </p:cNvPr>
            <p:cNvSpPr/>
            <p:nvPr/>
          </p:nvSpPr>
          <p:spPr>
            <a:xfrm>
              <a:off x="0" y="0"/>
              <a:ext cx="1371600" cy="1409700"/>
            </a:xfrm>
            <a:custGeom>
              <a:avLst/>
              <a:gdLst/>
              <a:ahLst/>
              <a:cxnLst/>
              <a:rect l="l" t="t" r="r" b="b"/>
              <a:pathLst>
                <a:path w="1371600" h="1409700">
                  <a:moveTo>
                    <a:pt x="0" y="704850"/>
                  </a:moveTo>
                  <a:cubicBezTo>
                    <a:pt x="0" y="315595"/>
                    <a:pt x="307086" y="0"/>
                    <a:pt x="685800" y="0"/>
                  </a:cubicBezTo>
                  <a:cubicBezTo>
                    <a:pt x="1064514" y="0"/>
                    <a:pt x="1371600" y="315595"/>
                    <a:pt x="1371600" y="704850"/>
                  </a:cubicBezTo>
                  <a:cubicBezTo>
                    <a:pt x="1371600" y="1094105"/>
                    <a:pt x="1064514" y="1409700"/>
                    <a:pt x="685800" y="1409700"/>
                  </a:cubicBezTo>
                  <a:cubicBezTo>
                    <a:pt x="307086" y="1409700"/>
                    <a:pt x="0" y="1094105"/>
                    <a:pt x="0" y="704850"/>
                  </a:cubicBezTo>
                  <a:close/>
                </a:path>
              </a:pathLst>
            </a:custGeom>
            <a:solidFill>
              <a:srgbClr val="FCB618"/>
            </a:solidFill>
            <a:ln w="12700">
              <a:solidFill>
                <a:schemeClr val="bg1"/>
              </a:solidFill>
            </a:ln>
          </p:spPr>
          <p:txBody>
            <a:bodyPr/>
            <a:lstStyle/>
            <a:p>
              <a:endParaRPr lang="vi-VN"/>
            </a:p>
          </p:txBody>
        </p:sp>
        <p:sp>
          <p:nvSpPr>
            <p:cNvPr id="14" name="TextBox 21">
              <a:extLst>
                <a:ext uri="{FF2B5EF4-FFF2-40B4-BE49-F238E27FC236}">
                  <a16:creationId xmlns:a16="http://schemas.microsoft.com/office/drawing/2014/main" id="{69A72F45-5479-8768-4595-E6D688F890CB}"/>
                </a:ext>
              </a:extLst>
            </p:cNvPr>
            <p:cNvSpPr txBox="1"/>
            <p:nvPr/>
          </p:nvSpPr>
          <p:spPr>
            <a:xfrm>
              <a:off x="0" y="-164663"/>
              <a:ext cx="1371524" cy="1428708"/>
            </a:xfrm>
            <a:prstGeom prst="rect">
              <a:avLst/>
            </a:prstGeom>
            <a:noFill/>
            <a:ln>
              <a:noFill/>
            </a:ln>
          </p:spPr>
          <p:style>
            <a:lnRef idx="0">
              <a:scrgbClr r="0" g="0" b="0"/>
            </a:lnRef>
            <a:fillRef idx="0">
              <a:scrgbClr r="0" g="0" b="0"/>
            </a:fillRef>
            <a:effectRef idx="0">
              <a:scrgbClr r="0" g="0" b="0"/>
            </a:effectRef>
            <a:fontRef idx="minor">
              <a:schemeClr val="accent6"/>
            </a:fontRef>
          </p:style>
          <p:txBody>
            <a:bodyPr lIns="50800" tIns="50800" rIns="50800" bIns="50800" rtlCol="0" anchor="ctr"/>
            <a:lstStyle/>
            <a:p>
              <a:pPr algn="ctr">
                <a:lnSpc>
                  <a:spcPts val="8640"/>
                </a:lnSpc>
              </a:pPr>
              <a:r>
                <a:rPr lang="en-US" sz="4800" b="1">
                  <a:solidFill>
                    <a:srgbClr val="FFFFFF"/>
                  </a:solidFill>
                  <a:latin typeface="Cambria" panose="02040503050406030204" pitchFamily="18" charset="0"/>
                  <a:ea typeface="Cambria" panose="02040503050406030204" pitchFamily="18" charset="0"/>
                  <a:cs typeface="Cambria Bold"/>
                  <a:sym typeface="Cambria Bold"/>
                </a:rPr>
                <a:t>3</a:t>
              </a:r>
              <a:endParaRPr lang="en-US" sz="4800" b="1" dirty="0">
                <a:solidFill>
                  <a:srgbClr val="FFFFFF"/>
                </a:solidFill>
                <a:latin typeface="Cambria" panose="02040503050406030204" pitchFamily="18" charset="0"/>
                <a:ea typeface="Cambria" panose="02040503050406030204" pitchFamily="18" charset="0"/>
                <a:cs typeface="Cambria Bold"/>
                <a:sym typeface="Cambria Bold"/>
              </a:endParaRPr>
            </a:p>
          </p:txBody>
        </p:sp>
      </p:grpSp>
      <p:sp>
        <p:nvSpPr>
          <p:cNvPr id="4" name="TextBox 3">
            <a:extLst>
              <a:ext uri="{FF2B5EF4-FFF2-40B4-BE49-F238E27FC236}">
                <a16:creationId xmlns:a16="http://schemas.microsoft.com/office/drawing/2014/main" id="{06A467C2-7105-7E58-2830-20F19BB4FED4}"/>
              </a:ext>
            </a:extLst>
          </p:cNvPr>
          <p:cNvSpPr txBox="1"/>
          <p:nvPr/>
        </p:nvSpPr>
        <p:spPr>
          <a:xfrm>
            <a:off x="838200" y="3003521"/>
            <a:ext cx="8153400" cy="6650860"/>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vi-VN" sz="3600" i="0" dirty="0">
                <a:solidFill>
                  <a:srgbClr val="303030"/>
                </a:solidFill>
                <a:effectLst/>
                <a:latin typeface="Arial" panose="020B0604020202020204" pitchFamily="34" charset="0"/>
                <a:cs typeface="Arial" panose="020B0604020202020204" pitchFamily="34" charset="0"/>
              </a:rPr>
              <a:t> Chiến lược và Phương pháp:</a:t>
            </a:r>
          </a:p>
          <a:p>
            <a:pPr marL="1028700" lvl="1" indent="-571500">
              <a:lnSpc>
                <a:spcPct val="150000"/>
              </a:lnSpc>
              <a:buFont typeface="Arial" panose="020B0604020202020204" pitchFamily="34" charset="0"/>
              <a:buChar char="•"/>
            </a:pPr>
            <a:r>
              <a:rPr lang="vi-VN" sz="3600" b="0" i="0" dirty="0">
                <a:solidFill>
                  <a:srgbClr val="303030"/>
                </a:solidFill>
                <a:effectLst/>
              </a:rPr>
              <a:t>Áp dụng </a:t>
            </a:r>
            <a:r>
              <a:rPr lang="vi-VN" sz="3600" i="0" dirty="0">
                <a:solidFill>
                  <a:srgbClr val="303030"/>
                </a:solidFill>
                <a:effectLst/>
              </a:rPr>
              <a:t>Kiểm thử thủ công </a:t>
            </a:r>
            <a:r>
              <a:rPr lang="vi-VN" sz="3600" b="0" i="0" dirty="0">
                <a:solidFill>
                  <a:srgbClr val="303030"/>
                </a:solidFill>
                <a:effectLst/>
              </a:rPr>
              <a:t>tập trung vào chức năng và giao diện.</a:t>
            </a:r>
          </a:p>
          <a:p>
            <a:pPr marL="1028700" lvl="1" indent="-571500">
              <a:lnSpc>
                <a:spcPct val="150000"/>
              </a:lnSpc>
              <a:buFont typeface="Arial" panose="020B0604020202020204" pitchFamily="34" charset="0"/>
              <a:buChar char="•"/>
            </a:pPr>
            <a:r>
              <a:rPr lang="vi-VN" sz="3600" b="0" i="0" dirty="0">
                <a:solidFill>
                  <a:srgbClr val="303030"/>
                </a:solidFill>
                <a:effectLst/>
              </a:rPr>
              <a:t>Thiết kế Kịch bản kiểm thử dựa trên phương pháp </a:t>
            </a:r>
            <a:r>
              <a:rPr lang="vi-VN" sz="3600" i="0" dirty="0">
                <a:solidFill>
                  <a:srgbClr val="303030"/>
                </a:solidFill>
                <a:effectLst/>
              </a:rPr>
              <a:t>Phân vùng tương đương.</a:t>
            </a:r>
          </a:p>
          <a:p>
            <a:pPr marL="1028700" lvl="1" indent="-571500">
              <a:lnSpc>
                <a:spcPct val="150000"/>
              </a:lnSpc>
              <a:buFont typeface="Arial" panose="020B0604020202020204" pitchFamily="34" charset="0"/>
              <a:buChar char="•"/>
            </a:pPr>
            <a:r>
              <a:rPr lang="vi-VN" sz="3600" b="0" i="0" dirty="0">
                <a:solidFill>
                  <a:srgbClr val="303030"/>
                </a:solidFill>
                <a:effectLst/>
              </a:rPr>
              <a:t>Môi trường kiểm thử đa dạng: </a:t>
            </a:r>
            <a:r>
              <a:rPr lang="en-US" sz="3600" i="0" dirty="0">
                <a:solidFill>
                  <a:srgbClr val="303030"/>
                </a:solidFill>
                <a:effectLst/>
                <a:latin typeface="Arial" panose="020B0604020202020204" pitchFamily="34" charset="0"/>
                <a:cs typeface="Arial" panose="020B0604020202020204" pitchFamily="34" charset="0"/>
              </a:rPr>
              <a:t>Google Chrome</a:t>
            </a:r>
            <a:r>
              <a:rPr lang="vi-VN" sz="3600" i="0" dirty="0">
                <a:solidFill>
                  <a:srgbClr val="303030"/>
                </a:solidFill>
                <a:effectLst/>
                <a:latin typeface="Arial" panose="020B0604020202020204" pitchFamily="34" charset="0"/>
                <a:cs typeface="Arial" panose="020B0604020202020204" pitchFamily="34" charset="0"/>
              </a:rPr>
              <a:t>, </a:t>
            </a:r>
            <a:r>
              <a:rPr lang="en-US" sz="3600" i="0" noProof="1">
                <a:solidFill>
                  <a:srgbClr val="303030"/>
                </a:solidFill>
                <a:effectLst/>
                <a:latin typeface="Arial" panose="020B0604020202020204" pitchFamily="34" charset="0"/>
                <a:cs typeface="Arial" panose="020B0604020202020204" pitchFamily="34" charset="0"/>
              </a:rPr>
              <a:t>Microsoft Edge.</a:t>
            </a:r>
          </a:p>
        </p:txBody>
      </p:sp>
      <p:sp>
        <p:nvSpPr>
          <p:cNvPr id="5" name="TextBox 4">
            <a:extLst>
              <a:ext uri="{FF2B5EF4-FFF2-40B4-BE49-F238E27FC236}">
                <a16:creationId xmlns:a16="http://schemas.microsoft.com/office/drawing/2014/main" id="{4814B37D-A3C9-5D09-DF0E-CA58865BAFBD}"/>
              </a:ext>
            </a:extLst>
          </p:cNvPr>
          <p:cNvSpPr txBox="1"/>
          <p:nvPr/>
        </p:nvSpPr>
        <p:spPr>
          <a:xfrm>
            <a:off x="10477500" y="3003521"/>
            <a:ext cx="6324600" cy="3693319"/>
          </a:xfrm>
          <a:prstGeom prst="rect">
            <a:avLst/>
          </a:prstGeom>
          <a:noFill/>
        </p:spPr>
        <p:txBody>
          <a:bodyPr wrap="square" rtlCol="0">
            <a:spAutoFit/>
          </a:bodyPr>
          <a:lstStyle/>
          <a:p>
            <a:pPr marL="571500" indent="-571500">
              <a:lnSpc>
                <a:spcPct val="150000"/>
              </a:lnSpc>
              <a:buFont typeface="Wingdings" panose="05000000000000000000" pitchFamily="2" charset="2"/>
              <a:buChar char="Ø"/>
            </a:pPr>
            <a:r>
              <a:rPr lang="vi-VN" sz="3600" i="0" dirty="0">
                <a:solidFill>
                  <a:srgbClr val="303030"/>
                </a:solidFill>
                <a:effectLst/>
                <a:latin typeface="Arial" panose="020B0604020202020204" pitchFamily="34" charset="0"/>
                <a:cs typeface="Arial" panose="020B0604020202020204" pitchFamily="34" charset="0"/>
              </a:rPr>
              <a:t>Tiến hành kiểm thử:</a:t>
            </a:r>
          </a:p>
          <a:p>
            <a:pPr marL="1028700" lvl="1" indent="-571500">
              <a:lnSpc>
                <a:spcPct val="150000"/>
              </a:lnSpc>
              <a:buFont typeface="Arial" panose="020B0604020202020204" pitchFamily="34" charset="0"/>
              <a:buChar char="•"/>
            </a:pPr>
            <a:r>
              <a:rPr lang="vi-VN" sz="3600" b="0" i="0" dirty="0">
                <a:solidFill>
                  <a:srgbClr val="303030"/>
                </a:solidFill>
                <a:effectLst/>
              </a:rPr>
              <a:t>Ước tính chi phí trả góp.</a:t>
            </a:r>
            <a:endParaRPr lang="vi-VN" sz="3600" b="0" dirty="0">
              <a:solidFill>
                <a:srgbClr val="303030"/>
              </a:solidFill>
              <a:cs typeface="Arial" panose="020B0604020202020204" pitchFamily="34" charset="0"/>
            </a:endParaRPr>
          </a:p>
          <a:p>
            <a:pPr marL="1028700" lvl="1" indent="-571500">
              <a:lnSpc>
                <a:spcPct val="150000"/>
              </a:lnSpc>
              <a:buFont typeface="Arial" panose="020B0604020202020204" pitchFamily="34" charset="0"/>
              <a:buChar char="•"/>
            </a:pPr>
            <a:r>
              <a:rPr lang="vi-VN" sz="3600" b="0" i="0" dirty="0">
                <a:solidFill>
                  <a:srgbClr val="303030"/>
                </a:solidFill>
                <a:effectLst/>
              </a:rPr>
              <a:t>Mua xe trả góp với AI</a:t>
            </a:r>
            <a:r>
              <a:rPr lang="vi-VN" sz="3600" b="0" dirty="0">
                <a:solidFill>
                  <a:srgbClr val="303030"/>
                </a:solidFill>
                <a:cs typeface="Arial" panose="020B0604020202020204" pitchFamily="34" charset="0"/>
              </a:rPr>
              <a:t>.</a:t>
            </a:r>
            <a:endParaRPr lang="vi-VN" sz="3600" i="0" dirty="0">
              <a:solidFill>
                <a:srgbClr val="303030"/>
              </a:solidFill>
              <a:effectLst/>
              <a:cs typeface="Arial" panose="020B0604020202020204" pitchFamily="34" charset="0"/>
            </a:endParaRPr>
          </a:p>
          <a:p>
            <a:pPr marL="1028700" lvl="1" indent="-571500">
              <a:lnSpc>
                <a:spcPct val="150000"/>
              </a:lnSpc>
              <a:buFont typeface="Arial" panose="020B0604020202020204" pitchFamily="34" charset="0"/>
              <a:buChar char="•"/>
            </a:pPr>
            <a:r>
              <a:rPr lang="vi-VN" sz="3600" b="0" i="0" dirty="0">
                <a:solidFill>
                  <a:srgbClr val="303030"/>
                </a:solidFill>
                <a:effectLst/>
              </a:rPr>
              <a:t>Quản lý xe.</a:t>
            </a:r>
            <a:endParaRPr lang="en-US" sz="3600" dirty="0">
              <a:cs typeface="Arial" panose="020B0604020202020204" pitchFamily="34" charset="0"/>
            </a:endParaRPr>
          </a:p>
          <a:p>
            <a:endParaRPr lang="en-US" dirty="0"/>
          </a:p>
        </p:txBody>
      </p:sp>
    </p:spTree>
    <p:extLst>
      <p:ext uri="{BB962C8B-B14F-4D97-AF65-F5344CB8AC3E}">
        <p14:creationId xmlns:p14="http://schemas.microsoft.com/office/powerpoint/2010/main" val="1156723343"/>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BE53C-97FD-A783-F132-605F86E0013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056A422-880A-81F8-7AD6-F472C730DF10}"/>
              </a:ext>
            </a:extLst>
          </p:cNvPr>
          <p:cNvSpPr/>
          <p:nvPr/>
        </p:nvSpPr>
        <p:spPr>
          <a:xfrm>
            <a:off x="0" y="-8663"/>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7" name="TextBox 3">
            <a:extLst>
              <a:ext uri="{FF2B5EF4-FFF2-40B4-BE49-F238E27FC236}">
                <a16:creationId xmlns:a16="http://schemas.microsoft.com/office/drawing/2014/main" id="{E9C5CB11-6355-755A-6B56-EC59BD37C173}"/>
              </a:ext>
            </a:extLst>
          </p:cNvPr>
          <p:cNvSpPr txBox="1"/>
          <p:nvPr/>
        </p:nvSpPr>
        <p:spPr>
          <a:xfrm>
            <a:off x="2032996" y="2152077"/>
            <a:ext cx="6597480" cy="743793"/>
          </a:xfrm>
          <a:prstGeom prst="rect">
            <a:avLst/>
          </a:prstGeom>
        </p:spPr>
        <p:txBody>
          <a:bodyPr lIns="0" tIns="0" rIns="0" bIns="0" rtlCol="0" anchor="t">
            <a:spAutoFit/>
          </a:bodyPr>
          <a:lstStyle/>
          <a:p>
            <a:pPr algn="l">
              <a:lnSpc>
                <a:spcPts val="5759"/>
              </a:lnSpc>
            </a:pPr>
            <a:r>
              <a:rPr lang="vi-VN" sz="5400" b="1" noProof="1">
                <a:solidFill>
                  <a:srgbClr val="16458C"/>
                </a:solidFill>
                <a:latin typeface="Arial" panose="020B0604020202020204" pitchFamily="34" charset="0"/>
                <a:ea typeface="Cambria" panose="02040503050406030204" pitchFamily="18" charset="0"/>
                <a:cs typeface="Arial" panose="020B0604020202020204" pitchFamily="34" charset="0"/>
                <a:sym typeface="Cambria Bold"/>
              </a:rPr>
              <a:t>Kiểm thử hệ thống</a:t>
            </a:r>
          </a:p>
        </p:txBody>
      </p:sp>
      <p:grpSp>
        <p:nvGrpSpPr>
          <p:cNvPr id="8" name="Group 19">
            <a:extLst>
              <a:ext uri="{FF2B5EF4-FFF2-40B4-BE49-F238E27FC236}">
                <a16:creationId xmlns:a16="http://schemas.microsoft.com/office/drawing/2014/main" id="{E498F2BA-D885-F1E9-DDC6-CA1AD9B2E206}"/>
              </a:ext>
            </a:extLst>
          </p:cNvPr>
          <p:cNvGrpSpPr/>
          <p:nvPr/>
        </p:nvGrpSpPr>
        <p:grpSpPr>
          <a:xfrm>
            <a:off x="838200" y="1866900"/>
            <a:ext cx="896472" cy="1028998"/>
            <a:chOff x="0" y="-164663"/>
            <a:chExt cx="1371600" cy="1574363"/>
          </a:xfrm>
        </p:grpSpPr>
        <p:sp>
          <p:nvSpPr>
            <p:cNvPr id="12" name="Freeform 20">
              <a:extLst>
                <a:ext uri="{FF2B5EF4-FFF2-40B4-BE49-F238E27FC236}">
                  <a16:creationId xmlns:a16="http://schemas.microsoft.com/office/drawing/2014/main" id="{BBBE1D83-B105-AF23-0E3F-5AB2CE80DBA8}"/>
                </a:ext>
              </a:extLst>
            </p:cNvPr>
            <p:cNvSpPr/>
            <p:nvPr/>
          </p:nvSpPr>
          <p:spPr>
            <a:xfrm>
              <a:off x="0" y="0"/>
              <a:ext cx="1371600" cy="1409700"/>
            </a:xfrm>
            <a:custGeom>
              <a:avLst/>
              <a:gdLst/>
              <a:ahLst/>
              <a:cxnLst/>
              <a:rect l="l" t="t" r="r" b="b"/>
              <a:pathLst>
                <a:path w="1371600" h="1409700">
                  <a:moveTo>
                    <a:pt x="0" y="704850"/>
                  </a:moveTo>
                  <a:cubicBezTo>
                    <a:pt x="0" y="315595"/>
                    <a:pt x="307086" y="0"/>
                    <a:pt x="685800" y="0"/>
                  </a:cubicBezTo>
                  <a:cubicBezTo>
                    <a:pt x="1064514" y="0"/>
                    <a:pt x="1371600" y="315595"/>
                    <a:pt x="1371600" y="704850"/>
                  </a:cubicBezTo>
                  <a:cubicBezTo>
                    <a:pt x="1371600" y="1094105"/>
                    <a:pt x="1064514" y="1409700"/>
                    <a:pt x="685800" y="1409700"/>
                  </a:cubicBezTo>
                  <a:cubicBezTo>
                    <a:pt x="307086" y="1409700"/>
                    <a:pt x="0" y="1094105"/>
                    <a:pt x="0" y="704850"/>
                  </a:cubicBezTo>
                  <a:close/>
                </a:path>
              </a:pathLst>
            </a:custGeom>
            <a:solidFill>
              <a:srgbClr val="FCB618"/>
            </a:solidFill>
            <a:ln w="12700">
              <a:solidFill>
                <a:schemeClr val="bg1"/>
              </a:solidFill>
            </a:ln>
          </p:spPr>
          <p:txBody>
            <a:bodyPr/>
            <a:lstStyle/>
            <a:p>
              <a:endParaRPr lang="vi-VN"/>
            </a:p>
          </p:txBody>
        </p:sp>
        <p:sp>
          <p:nvSpPr>
            <p:cNvPr id="14" name="TextBox 21">
              <a:extLst>
                <a:ext uri="{FF2B5EF4-FFF2-40B4-BE49-F238E27FC236}">
                  <a16:creationId xmlns:a16="http://schemas.microsoft.com/office/drawing/2014/main" id="{69A72F45-5479-8768-4595-E6D688F890CB}"/>
                </a:ext>
              </a:extLst>
            </p:cNvPr>
            <p:cNvSpPr txBox="1"/>
            <p:nvPr/>
          </p:nvSpPr>
          <p:spPr>
            <a:xfrm>
              <a:off x="0" y="-164663"/>
              <a:ext cx="1371524" cy="1428708"/>
            </a:xfrm>
            <a:prstGeom prst="rect">
              <a:avLst/>
            </a:prstGeom>
            <a:noFill/>
            <a:ln>
              <a:noFill/>
            </a:ln>
          </p:spPr>
          <p:style>
            <a:lnRef idx="0">
              <a:scrgbClr r="0" g="0" b="0"/>
            </a:lnRef>
            <a:fillRef idx="0">
              <a:scrgbClr r="0" g="0" b="0"/>
            </a:fillRef>
            <a:effectRef idx="0">
              <a:scrgbClr r="0" g="0" b="0"/>
            </a:effectRef>
            <a:fontRef idx="minor">
              <a:schemeClr val="accent6"/>
            </a:fontRef>
          </p:style>
          <p:txBody>
            <a:bodyPr lIns="50800" tIns="50800" rIns="50800" bIns="50800" rtlCol="0" anchor="ctr"/>
            <a:lstStyle/>
            <a:p>
              <a:pPr algn="ctr">
                <a:lnSpc>
                  <a:spcPts val="8640"/>
                </a:lnSpc>
              </a:pPr>
              <a:r>
                <a:rPr lang="en-US" sz="4800" b="1">
                  <a:solidFill>
                    <a:srgbClr val="FFFFFF"/>
                  </a:solidFill>
                  <a:latin typeface="Cambria" panose="02040503050406030204" pitchFamily="18" charset="0"/>
                  <a:ea typeface="Cambria" panose="02040503050406030204" pitchFamily="18" charset="0"/>
                  <a:cs typeface="Cambria Bold"/>
                  <a:sym typeface="Cambria Bold"/>
                </a:rPr>
                <a:t>3</a:t>
              </a:r>
              <a:endParaRPr lang="en-US" sz="4800" b="1" dirty="0">
                <a:solidFill>
                  <a:srgbClr val="FFFFFF"/>
                </a:solidFill>
                <a:latin typeface="Cambria" panose="02040503050406030204" pitchFamily="18" charset="0"/>
                <a:ea typeface="Cambria" panose="02040503050406030204" pitchFamily="18" charset="0"/>
                <a:cs typeface="Cambria Bold"/>
                <a:sym typeface="Cambria Bold"/>
              </a:endParaRPr>
            </a:p>
          </p:txBody>
        </p:sp>
      </p:grpSp>
      <p:sp>
        <p:nvSpPr>
          <p:cNvPr id="6" name="TextBox 5">
            <a:extLst>
              <a:ext uri="{FF2B5EF4-FFF2-40B4-BE49-F238E27FC236}">
                <a16:creationId xmlns:a16="http://schemas.microsoft.com/office/drawing/2014/main" id="{53066248-8DBB-D68D-FDD5-A3C05FD81CB6}"/>
              </a:ext>
            </a:extLst>
          </p:cNvPr>
          <p:cNvSpPr txBox="1"/>
          <p:nvPr/>
        </p:nvSpPr>
        <p:spPr>
          <a:xfrm>
            <a:off x="2032996" y="3122831"/>
            <a:ext cx="4063004" cy="646331"/>
          </a:xfrm>
          <a:prstGeom prst="rect">
            <a:avLst/>
          </a:prstGeom>
          <a:noFill/>
        </p:spPr>
        <p:txBody>
          <a:bodyPr wrap="square" rtlCol="0">
            <a:spAutoFit/>
          </a:bodyPr>
          <a:lstStyle/>
          <a:p>
            <a:pPr marL="285750" indent="-285750">
              <a:buFont typeface="Wingdings" panose="05000000000000000000" pitchFamily="2" charset="2"/>
              <a:buChar char="Ø"/>
            </a:pPr>
            <a:r>
              <a:rPr lang="vi-VN" sz="3600" noProof="1">
                <a:latin typeface="Arial" panose="020B0604020202020204" pitchFamily="34" charset="0"/>
                <a:cs typeface="Arial" panose="020B0604020202020204" pitchFamily="34" charset="0"/>
              </a:rPr>
              <a:t> Kết quả:</a:t>
            </a:r>
          </a:p>
        </p:txBody>
      </p:sp>
      <p:pic>
        <p:nvPicPr>
          <p:cNvPr id="4" name="Picture 3">
            <a:extLst>
              <a:ext uri="{FF2B5EF4-FFF2-40B4-BE49-F238E27FC236}">
                <a16:creationId xmlns:a16="http://schemas.microsoft.com/office/drawing/2014/main" id="{653BCB79-1B84-B79E-2E45-70DEE83BEE59}"/>
              </a:ext>
            </a:extLst>
          </p:cNvPr>
          <p:cNvPicPr>
            <a:picLocks noChangeAspect="1"/>
          </p:cNvPicPr>
          <p:nvPr/>
        </p:nvPicPr>
        <p:blipFill>
          <a:blip r:embed="rId4"/>
          <a:stretch>
            <a:fillRect/>
          </a:stretch>
        </p:blipFill>
        <p:spPr>
          <a:xfrm>
            <a:off x="2689912" y="3900314"/>
            <a:ext cx="12908176" cy="4900786"/>
          </a:xfrm>
          <a:prstGeom prst="rect">
            <a:avLst/>
          </a:prstGeom>
        </p:spPr>
      </p:pic>
    </p:spTree>
    <p:extLst>
      <p:ext uri="{BB962C8B-B14F-4D97-AF65-F5344CB8AC3E}">
        <p14:creationId xmlns:p14="http://schemas.microsoft.com/office/powerpoint/2010/main" val="4227262535"/>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286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dirty="0">
              <a:latin typeface="Cambria" panose="02040503050406030204" pitchFamily="18" charset="0"/>
              <a:ea typeface="Cambria" panose="02040503050406030204" pitchFamily="18" charset="0"/>
            </a:endParaRPr>
          </a:p>
        </p:txBody>
      </p:sp>
      <p:sp>
        <p:nvSpPr>
          <p:cNvPr id="3" name="TextBox 3"/>
          <p:cNvSpPr txBox="1"/>
          <p:nvPr/>
        </p:nvSpPr>
        <p:spPr>
          <a:xfrm>
            <a:off x="2032996" y="2152077"/>
            <a:ext cx="6597480" cy="743793"/>
          </a:xfrm>
          <a:prstGeom prst="rect">
            <a:avLst/>
          </a:prstGeom>
        </p:spPr>
        <p:txBody>
          <a:bodyPr lIns="0" tIns="0" rIns="0" bIns="0" rtlCol="0" anchor="t">
            <a:spAutoFit/>
          </a:bodyPr>
          <a:lstStyle/>
          <a:p>
            <a:pPr algn="l">
              <a:lnSpc>
                <a:spcPts val="5759"/>
              </a:lnSpc>
            </a:pPr>
            <a:r>
              <a:rPr lang="vi-VN" sz="5400" b="1" noProof="1">
                <a:solidFill>
                  <a:srgbClr val="16458C"/>
                </a:solidFill>
                <a:latin typeface="Cambria" panose="02040503050406030204" pitchFamily="18" charset="0"/>
                <a:ea typeface="Cambria" panose="02040503050406030204" pitchFamily="18" charset="0"/>
                <a:cs typeface="Cambria Bold"/>
                <a:sym typeface="Cambria Bold"/>
              </a:rPr>
              <a:t>Chạy thử nghiệm </a:t>
            </a:r>
          </a:p>
        </p:txBody>
      </p:sp>
      <p:sp>
        <p:nvSpPr>
          <p:cNvPr id="43" name="Freeform 43"/>
          <p:cNvSpPr/>
          <p:nvPr/>
        </p:nvSpPr>
        <p:spPr>
          <a:xfrm>
            <a:off x="2048236" y="8287212"/>
            <a:ext cx="654067" cy="654067"/>
          </a:xfrm>
          <a:custGeom>
            <a:avLst/>
            <a:gdLst/>
            <a:ahLst/>
            <a:cxnLst/>
            <a:rect l="l" t="t" r="r" b="b"/>
            <a:pathLst>
              <a:path w="654067" h="654067">
                <a:moveTo>
                  <a:pt x="0" y="0"/>
                </a:moveTo>
                <a:lnTo>
                  <a:pt x="654068" y="0"/>
                </a:lnTo>
                <a:lnTo>
                  <a:pt x="654068" y="654068"/>
                </a:lnTo>
                <a:lnTo>
                  <a:pt x="0" y="6540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vi-VN"/>
          </a:p>
        </p:txBody>
      </p:sp>
      <p:grpSp>
        <p:nvGrpSpPr>
          <p:cNvPr id="4" name="Group 19">
            <a:extLst>
              <a:ext uri="{FF2B5EF4-FFF2-40B4-BE49-F238E27FC236}">
                <a16:creationId xmlns:a16="http://schemas.microsoft.com/office/drawing/2014/main" id="{F5D28EC3-6602-E16D-E9E5-35192B4F2C10}"/>
              </a:ext>
            </a:extLst>
          </p:cNvPr>
          <p:cNvGrpSpPr/>
          <p:nvPr/>
        </p:nvGrpSpPr>
        <p:grpSpPr>
          <a:xfrm>
            <a:off x="838200" y="1866900"/>
            <a:ext cx="896472" cy="1028998"/>
            <a:chOff x="0" y="-164663"/>
            <a:chExt cx="1371600" cy="1574363"/>
          </a:xfrm>
        </p:grpSpPr>
        <p:sp>
          <p:nvSpPr>
            <p:cNvPr id="7" name="Freeform 20">
              <a:extLst>
                <a:ext uri="{FF2B5EF4-FFF2-40B4-BE49-F238E27FC236}">
                  <a16:creationId xmlns:a16="http://schemas.microsoft.com/office/drawing/2014/main" id="{88262F6E-7509-2DFD-F2D6-EA8F9CCA790B}"/>
                </a:ext>
              </a:extLst>
            </p:cNvPr>
            <p:cNvSpPr/>
            <p:nvPr/>
          </p:nvSpPr>
          <p:spPr>
            <a:xfrm>
              <a:off x="0" y="0"/>
              <a:ext cx="1371600" cy="1409700"/>
            </a:xfrm>
            <a:custGeom>
              <a:avLst/>
              <a:gdLst/>
              <a:ahLst/>
              <a:cxnLst/>
              <a:rect l="l" t="t" r="r" b="b"/>
              <a:pathLst>
                <a:path w="1371600" h="1409700">
                  <a:moveTo>
                    <a:pt x="0" y="704850"/>
                  </a:moveTo>
                  <a:cubicBezTo>
                    <a:pt x="0" y="315595"/>
                    <a:pt x="307086" y="0"/>
                    <a:pt x="685800" y="0"/>
                  </a:cubicBezTo>
                  <a:cubicBezTo>
                    <a:pt x="1064514" y="0"/>
                    <a:pt x="1371600" y="315595"/>
                    <a:pt x="1371600" y="704850"/>
                  </a:cubicBezTo>
                  <a:cubicBezTo>
                    <a:pt x="1371600" y="1094105"/>
                    <a:pt x="1064514" y="1409700"/>
                    <a:pt x="685800" y="1409700"/>
                  </a:cubicBezTo>
                  <a:cubicBezTo>
                    <a:pt x="307086" y="1409700"/>
                    <a:pt x="0" y="1094105"/>
                    <a:pt x="0" y="704850"/>
                  </a:cubicBezTo>
                  <a:close/>
                </a:path>
              </a:pathLst>
            </a:custGeom>
            <a:solidFill>
              <a:srgbClr val="FCB618"/>
            </a:solidFill>
            <a:ln w="12700">
              <a:solidFill>
                <a:schemeClr val="bg1"/>
              </a:solidFill>
            </a:ln>
          </p:spPr>
          <p:txBody>
            <a:bodyPr/>
            <a:lstStyle/>
            <a:p>
              <a:endParaRPr lang="vi-VN"/>
            </a:p>
          </p:txBody>
        </p:sp>
        <p:sp>
          <p:nvSpPr>
            <p:cNvPr id="11" name="TextBox 21">
              <a:extLst>
                <a:ext uri="{FF2B5EF4-FFF2-40B4-BE49-F238E27FC236}">
                  <a16:creationId xmlns:a16="http://schemas.microsoft.com/office/drawing/2014/main" id="{25DB9718-F17A-0E9B-8C3A-2EEC73A99BA7}"/>
                </a:ext>
              </a:extLst>
            </p:cNvPr>
            <p:cNvSpPr txBox="1"/>
            <p:nvPr/>
          </p:nvSpPr>
          <p:spPr>
            <a:xfrm>
              <a:off x="0" y="-164663"/>
              <a:ext cx="1371524" cy="1428708"/>
            </a:xfrm>
            <a:prstGeom prst="rect">
              <a:avLst/>
            </a:prstGeom>
            <a:noFill/>
            <a:ln>
              <a:noFill/>
            </a:ln>
          </p:spPr>
          <p:style>
            <a:lnRef idx="0">
              <a:scrgbClr r="0" g="0" b="0"/>
            </a:lnRef>
            <a:fillRef idx="0">
              <a:scrgbClr r="0" g="0" b="0"/>
            </a:fillRef>
            <a:effectRef idx="0">
              <a:scrgbClr r="0" g="0" b="0"/>
            </a:effectRef>
            <a:fontRef idx="minor">
              <a:schemeClr val="accent6"/>
            </a:fontRef>
          </p:style>
          <p:txBody>
            <a:bodyPr lIns="50800" tIns="50800" rIns="50800" bIns="50800" rtlCol="0" anchor="ctr"/>
            <a:lstStyle/>
            <a:p>
              <a:pPr algn="ctr">
                <a:lnSpc>
                  <a:spcPts val="8640"/>
                </a:lnSpc>
              </a:pPr>
              <a:r>
                <a:rPr lang="en-US" sz="4800" b="1">
                  <a:solidFill>
                    <a:srgbClr val="FFFFFF"/>
                  </a:solidFill>
                  <a:latin typeface="Cambria" panose="02040503050406030204" pitchFamily="18" charset="0"/>
                  <a:ea typeface="Cambria" panose="02040503050406030204" pitchFamily="18" charset="0"/>
                  <a:cs typeface="Cambria Bold"/>
                  <a:sym typeface="Cambria Bold"/>
                </a:rPr>
                <a:t>4</a:t>
              </a:r>
              <a:endParaRPr lang="en-US" sz="4800" b="1" dirty="0">
                <a:solidFill>
                  <a:srgbClr val="FFFFFF"/>
                </a:solidFill>
                <a:latin typeface="Cambria" panose="02040503050406030204" pitchFamily="18" charset="0"/>
                <a:ea typeface="Cambria" panose="02040503050406030204" pitchFamily="18" charset="0"/>
                <a:cs typeface="Cambria Bold"/>
                <a:sym typeface="Cambria Bold"/>
              </a:endParaRPr>
            </a:p>
          </p:txBody>
        </p:sp>
      </p:grpSp>
      <p:pic>
        <p:nvPicPr>
          <p:cNvPr id="8" name="Picture 7" descr="A group of kids walking on a street with buses and houses&#10;&#10;AI-generated content may be incorrect.">
            <a:extLst>
              <a:ext uri="{FF2B5EF4-FFF2-40B4-BE49-F238E27FC236}">
                <a16:creationId xmlns:a16="http://schemas.microsoft.com/office/drawing/2014/main" id="{0716F43E-DE99-25C7-BE9E-71445F0B962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19400" y="3009900"/>
            <a:ext cx="13205902" cy="6286230"/>
          </a:xfrm>
          <a:prstGeom prst="rect">
            <a:avLst/>
          </a:prstGeom>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240" y="-2286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dirty="0">
              <a:latin typeface="Cambria" panose="02040503050406030204" pitchFamily="18" charset="0"/>
              <a:ea typeface="Cambria" panose="02040503050406030204" pitchFamily="18" charset="0"/>
            </a:endParaRPr>
          </a:p>
        </p:txBody>
      </p:sp>
      <p:sp>
        <p:nvSpPr>
          <p:cNvPr id="3" name="TextBox 3"/>
          <p:cNvSpPr txBox="1"/>
          <p:nvPr/>
        </p:nvSpPr>
        <p:spPr>
          <a:xfrm>
            <a:off x="2032996" y="2152077"/>
            <a:ext cx="11606804" cy="743793"/>
          </a:xfrm>
          <a:prstGeom prst="rect">
            <a:avLst/>
          </a:prstGeom>
        </p:spPr>
        <p:txBody>
          <a:bodyPr wrap="square" lIns="0" tIns="0" rIns="0" bIns="0" rtlCol="0" anchor="t">
            <a:spAutoFit/>
          </a:bodyPr>
          <a:lstStyle/>
          <a:p>
            <a:pPr algn="l">
              <a:lnSpc>
                <a:spcPts val="5759"/>
              </a:lnSpc>
            </a:pPr>
            <a:r>
              <a:rPr lang="vi-VN" sz="5400" b="1" noProof="1">
                <a:solidFill>
                  <a:srgbClr val="16458C"/>
                </a:solidFill>
                <a:latin typeface="Cambria" panose="02040503050406030204" pitchFamily="18" charset="0"/>
                <a:ea typeface="Cambria" panose="02040503050406030204" pitchFamily="18" charset="0"/>
                <a:cs typeface="Cambria Bold"/>
                <a:sym typeface="Cambria Bold"/>
              </a:rPr>
              <a:t>Kết luận và hướng phát triển</a:t>
            </a:r>
          </a:p>
        </p:txBody>
      </p:sp>
      <p:sp>
        <p:nvSpPr>
          <p:cNvPr id="43" name="Freeform 43"/>
          <p:cNvSpPr/>
          <p:nvPr/>
        </p:nvSpPr>
        <p:spPr>
          <a:xfrm>
            <a:off x="2048236" y="8287212"/>
            <a:ext cx="654067" cy="654067"/>
          </a:xfrm>
          <a:custGeom>
            <a:avLst/>
            <a:gdLst/>
            <a:ahLst/>
            <a:cxnLst/>
            <a:rect l="l" t="t" r="r" b="b"/>
            <a:pathLst>
              <a:path w="654067" h="654067">
                <a:moveTo>
                  <a:pt x="0" y="0"/>
                </a:moveTo>
                <a:lnTo>
                  <a:pt x="654068" y="0"/>
                </a:lnTo>
                <a:lnTo>
                  <a:pt x="654068" y="654068"/>
                </a:lnTo>
                <a:lnTo>
                  <a:pt x="0" y="6540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vi-VN"/>
          </a:p>
        </p:txBody>
      </p:sp>
      <p:grpSp>
        <p:nvGrpSpPr>
          <p:cNvPr id="4" name="Group 19">
            <a:extLst>
              <a:ext uri="{FF2B5EF4-FFF2-40B4-BE49-F238E27FC236}">
                <a16:creationId xmlns:a16="http://schemas.microsoft.com/office/drawing/2014/main" id="{F5D28EC3-6602-E16D-E9E5-35192B4F2C10}"/>
              </a:ext>
            </a:extLst>
          </p:cNvPr>
          <p:cNvGrpSpPr/>
          <p:nvPr/>
        </p:nvGrpSpPr>
        <p:grpSpPr>
          <a:xfrm>
            <a:off x="838200" y="1866900"/>
            <a:ext cx="896472" cy="1028998"/>
            <a:chOff x="0" y="-164663"/>
            <a:chExt cx="1371600" cy="1574363"/>
          </a:xfrm>
        </p:grpSpPr>
        <p:sp>
          <p:nvSpPr>
            <p:cNvPr id="7" name="Freeform 20">
              <a:extLst>
                <a:ext uri="{FF2B5EF4-FFF2-40B4-BE49-F238E27FC236}">
                  <a16:creationId xmlns:a16="http://schemas.microsoft.com/office/drawing/2014/main" id="{88262F6E-7509-2DFD-F2D6-EA8F9CCA790B}"/>
                </a:ext>
              </a:extLst>
            </p:cNvPr>
            <p:cNvSpPr/>
            <p:nvPr/>
          </p:nvSpPr>
          <p:spPr>
            <a:xfrm>
              <a:off x="0" y="0"/>
              <a:ext cx="1371600" cy="1409700"/>
            </a:xfrm>
            <a:custGeom>
              <a:avLst/>
              <a:gdLst/>
              <a:ahLst/>
              <a:cxnLst/>
              <a:rect l="l" t="t" r="r" b="b"/>
              <a:pathLst>
                <a:path w="1371600" h="1409700">
                  <a:moveTo>
                    <a:pt x="0" y="704850"/>
                  </a:moveTo>
                  <a:cubicBezTo>
                    <a:pt x="0" y="315595"/>
                    <a:pt x="307086" y="0"/>
                    <a:pt x="685800" y="0"/>
                  </a:cubicBezTo>
                  <a:cubicBezTo>
                    <a:pt x="1064514" y="0"/>
                    <a:pt x="1371600" y="315595"/>
                    <a:pt x="1371600" y="704850"/>
                  </a:cubicBezTo>
                  <a:cubicBezTo>
                    <a:pt x="1371600" y="1094105"/>
                    <a:pt x="1064514" y="1409700"/>
                    <a:pt x="685800" y="1409700"/>
                  </a:cubicBezTo>
                  <a:cubicBezTo>
                    <a:pt x="307086" y="1409700"/>
                    <a:pt x="0" y="1094105"/>
                    <a:pt x="0" y="704850"/>
                  </a:cubicBezTo>
                  <a:close/>
                </a:path>
              </a:pathLst>
            </a:custGeom>
            <a:solidFill>
              <a:srgbClr val="FCB618"/>
            </a:solidFill>
            <a:ln w="12700">
              <a:solidFill>
                <a:schemeClr val="bg1"/>
              </a:solidFill>
            </a:ln>
          </p:spPr>
          <p:txBody>
            <a:bodyPr/>
            <a:lstStyle/>
            <a:p>
              <a:endParaRPr lang="vi-VN"/>
            </a:p>
          </p:txBody>
        </p:sp>
        <p:sp>
          <p:nvSpPr>
            <p:cNvPr id="11" name="TextBox 21">
              <a:extLst>
                <a:ext uri="{FF2B5EF4-FFF2-40B4-BE49-F238E27FC236}">
                  <a16:creationId xmlns:a16="http://schemas.microsoft.com/office/drawing/2014/main" id="{25DB9718-F17A-0E9B-8C3A-2EEC73A99BA7}"/>
                </a:ext>
              </a:extLst>
            </p:cNvPr>
            <p:cNvSpPr txBox="1"/>
            <p:nvPr/>
          </p:nvSpPr>
          <p:spPr>
            <a:xfrm>
              <a:off x="0" y="-164663"/>
              <a:ext cx="1371524" cy="1428708"/>
            </a:xfrm>
            <a:prstGeom prst="rect">
              <a:avLst/>
            </a:prstGeom>
            <a:noFill/>
            <a:ln>
              <a:noFill/>
            </a:ln>
          </p:spPr>
          <p:style>
            <a:lnRef idx="0">
              <a:scrgbClr r="0" g="0" b="0"/>
            </a:lnRef>
            <a:fillRef idx="0">
              <a:scrgbClr r="0" g="0" b="0"/>
            </a:fillRef>
            <a:effectRef idx="0">
              <a:scrgbClr r="0" g="0" b="0"/>
            </a:effectRef>
            <a:fontRef idx="minor">
              <a:schemeClr val="accent6"/>
            </a:fontRef>
          </p:style>
          <p:txBody>
            <a:bodyPr lIns="50800" tIns="50800" rIns="50800" bIns="50800" rtlCol="0" anchor="ctr"/>
            <a:lstStyle/>
            <a:p>
              <a:pPr algn="ctr">
                <a:lnSpc>
                  <a:spcPts val="8640"/>
                </a:lnSpc>
              </a:pPr>
              <a:r>
                <a:rPr lang="en-US" sz="4800" b="1" dirty="0">
                  <a:solidFill>
                    <a:srgbClr val="FFFFFF"/>
                  </a:solidFill>
                  <a:latin typeface="Cambria" panose="02040503050406030204" pitchFamily="18" charset="0"/>
                  <a:ea typeface="Cambria" panose="02040503050406030204" pitchFamily="18" charset="0"/>
                  <a:cs typeface="Cambria Bold"/>
                  <a:sym typeface="Cambria Bold"/>
                </a:rPr>
                <a:t>5</a:t>
              </a:r>
            </a:p>
          </p:txBody>
        </p:sp>
      </p:grpSp>
      <p:sp>
        <p:nvSpPr>
          <p:cNvPr id="5" name="TextBox 4">
            <a:extLst>
              <a:ext uri="{FF2B5EF4-FFF2-40B4-BE49-F238E27FC236}">
                <a16:creationId xmlns:a16="http://schemas.microsoft.com/office/drawing/2014/main" id="{FDEECCF5-594C-00F9-AA66-113826092FBC}"/>
              </a:ext>
            </a:extLst>
          </p:cNvPr>
          <p:cNvSpPr txBox="1"/>
          <p:nvPr/>
        </p:nvSpPr>
        <p:spPr>
          <a:xfrm>
            <a:off x="1371600" y="3162300"/>
            <a:ext cx="15544800" cy="6186309"/>
          </a:xfrm>
          <a:prstGeom prst="rect">
            <a:avLst/>
          </a:prstGeom>
          <a:noFill/>
        </p:spPr>
        <p:txBody>
          <a:bodyPr wrap="square" rtlCol="0">
            <a:spAutoFit/>
          </a:bodyPr>
          <a:lstStyle/>
          <a:p>
            <a:pPr marL="571500" indent="-571500">
              <a:buFont typeface="Wingdings" panose="05000000000000000000" pitchFamily="2" charset="2"/>
              <a:buChar char="Ø"/>
            </a:pPr>
            <a:r>
              <a:rPr lang="vi-VN" sz="3600" dirty="0"/>
              <a:t>Kết luận:</a:t>
            </a:r>
          </a:p>
          <a:p>
            <a:pPr marL="1028700" lvl="1" indent="-571500">
              <a:buFont typeface="Arial" panose="020B0604020202020204" pitchFamily="34" charset="0"/>
              <a:buChar char="•"/>
            </a:pPr>
            <a:r>
              <a:rPr lang="vi-VN" sz="3600" i="0" dirty="0">
                <a:solidFill>
                  <a:srgbClr val="303030"/>
                </a:solidFill>
                <a:effectLst/>
              </a:rPr>
              <a:t>Xây dựng thành công hệ thống thương mại ô tô trực tuyến tích hợp AI</a:t>
            </a:r>
          </a:p>
          <a:p>
            <a:pPr marL="1028700" lvl="1" indent="-571500">
              <a:buFont typeface="Arial" panose="020B0604020202020204" pitchFamily="34" charset="0"/>
              <a:buChar char="•"/>
            </a:pPr>
            <a:r>
              <a:rPr lang="vi-VN" sz="3600" i="0" dirty="0">
                <a:solidFill>
                  <a:srgbClr val="303030"/>
                </a:solidFill>
                <a:effectLst/>
              </a:rPr>
              <a:t>Tự động hóa toàn diện quy trình mua trả góp.</a:t>
            </a:r>
            <a:endParaRPr lang="vi-VN" sz="3600" dirty="0">
              <a:solidFill>
                <a:srgbClr val="303030"/>
              </a:solidFill>
            </a:endParaRPr>
          </a:p>
          <a:p>
            <a:endParaRPr lang="vi-VN" sz="3600" dirty="0">
              <a:solidFill>
                <a:srgbClr val="303030"/>
              </a:solidFill>
            </a:endParaRPr>
          </a:p>
          <a:p>
            <a:pPr marL="571500" indent="-571500">
              <a:buFont typeface="Wingdings" panose="05000000000000000000" pitchFamily="2" charset="2"/>
              <a:buChar char="Ø"/>
            </a:pPr>
            <a:r>
              <a:rPr lang="vi-VN" sz="3600" i="0" dirty="0">
                <a:solidFill>
                  <a:srgbClr val="303030"/>
                </a:solidFill>
                <a:effectLst/>
              </a:rPr>
              <a:t>Hạn chế hiện tại</a:t>
            </a:r>
          </a:p>
          <a:p>
            <a:pPr marL="1028700" lvl="1" indent="-571500">
              <a:buFont typeface="Arial" panose="020B0604020202020204" pitchFamily="34" charset="0"/>
              <a:buChar char="•"/>
            </a:pPr>
            <a:r>
              <a:rPr lang="vi-VN" sz="3600" i="0" dirty="0">
                <a:solidFill>
                  <a:srgbClr val="303030"/>
                </a:solidFill>
                <a:effectLst/>
              </a:rPr>
              <a:t>Mô hình AI đang vận hành trên dữ liệu tĩnh, chưa tự học sâu</a:t>
            </a:r>
            <a:endParaRPr lang="vi-VN" sz="3600" dirty="0">
              <a:solidFill>
                <a:srgbClr val="303030"/>
              </a:solidFill>
            </a:endParaRPr>
          </a:p>
          <a:p>
            <a:pPr marL="1028700" lvl="1" indent="-571500">
              <a:buFont typeface="Arial" panose="020B0604020202020204" pitchFamily="34" charset="0"/>
              <a:buChar char="•"/>
            </a:pPr>
            <a:r>
              <a:rPr lang="vi-VN" sz="3600" i="0" dirty="0">
                <a:solidFill>
                  <a:srgbClr val="303030"/>
                </a:solidFill>
                <a:effectLst/>
              </a:rPr>
              <a:t>Tính pháp lý của giao dịch chưa khép kín tuyệt đối</a:t>
            </a:r>
          </a:p>
          <a:p>
            <a:endParaRPr lang="vi-VN" sz="3600" dirty="0">
              <a:solidFill>
                <a:srgbClr val="303030"/>
              </a:solidFill>
            </a:endParaRPr>
          </a:p>
          <a:p>
            <a:pPr marL="571500" indent="-571500">
              <a:buFont typeface="Wingdings" panose="05000000000000000000" pitchFamily="2" charset="2"/>
              <a:buChar char="Ø"/>
            </a:pPr>
            <a:r>
              <a:rPr lang="vi-VN" sz="3600" i="0" dirty="0">
                <a:solidFill>
                  <a:srgbClr val="303030"/>
                </a:solidFill>
                <a:effectLst/>
              </a:rPr>
              <a:t>Hướng phát triển tương lai</a:t>
            </a:r>
          </a:p>
          <a:p>
            <a:pPr marL="1028700" lvl="1" indent="-571500">
              <a:buFont typeface="Arial" panose="020B0604020202020204" pitchFamily="34" charset="0"/>
              <a:buChar char="•"/>
            </a:pPr>
            <a:r>
              <a:rPr lang="vi-VN" sz="3600" i="0" dirty="0">
                <a:solidFill>
                  <a:srgbClr val="303030"/>
                </a:solidFill>
                <a:effectLst/>
              </a:rPr>
              <a:t>Công nghệ lõi: Nâng cấp mô hình học máy tiên tiến để AI tương tác tự nhiên và cá nhân hóa sâu sắc hơn</a:t>
            </a:r>
            <a:endParaRPr lang="en-US" sz="3600" dirty="0"/>
          </a:p>
        </p:txBody>
      </p:sp>
    </p:spTree>
    <p:extLst>
      <p:ext uri="{BB962C8B-B14F-4D97-AF65-F5344CB8AC3E}">
        <p14:creationId xmlns:p14="http://schemas.microsoft.com/office/powerpoint/2010/main" val="2779302871"/>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240" y="-2286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dirty="0">
              <a:latin typeface="Cambria" panose="02040503050406030204" pitchFamily="18" charset="0"/>
              <a:ea typeface="Cambria" panose="02040503050406030204" pitchFamily="18" charset="0"/>
            </a:endParaRPr>
          </a:p>
        </p:txBody>
      </p:sp>
      <p:sp>
        <p:nvSpPr>
          <p:cNvPr id="43" name="Freeform 43"/>
          <p:cNvSpPr/>
          <p:nvPr/>
        </p:nvSpPr>
        <p:spPr>
          <a:xfrm>
            <a:off x="2048236" y="8287212"/>
            <a:ext cx="654067" cy="654067"/>
          </a:xfrm>
          <a:custGeom>
            <a:avLst/>
            <a:gdLst/>
            <a:ahLst/>
            <a:cxnLst/>
            <a:rect l="l" t="t" r="r" b="b"/>
            <a:pathLst>
              <a:path w="654067" h="654067">
                <a:moveTo>
                  <a:pt x="0" y="0"/>
                </a:moveTo>
                <a:lnTo>
                  <a:pt x="654068" y="0"/>
                </a:lnTo>
                <a:lnTo>
                  <a:pt x="654068" y="654068"/>
                </a:lnTo>
                <a:lnTo>
                  <a:pt x="0" y="6540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vi-VN"/>
          </a:p>
        </p:txBody>
      </p:sp>
      <p:sp>
        <p:nvSpPr>
          <p:cNvPr id="6" name="TextBox 5">
            <a:extLst>
              <a:ext uri="{FF2B5EF4-FFF2-40B4-BE49-F238E27FC236}">
                <a16:creationId xmlns:a16="http://schemas.microsoft.com/office/drawing/2014/main" id="{15C62CD7-37BD-B6A3-C388-18B9B31E7AF4}"/>
              </a:ext>
            </a:extLst>
          </p:cNvPr>
          <p:cNvSpPr txBox="1"/>
          <p:nvPr/>
        </p:nvSpPr>
        <p:spPr>
          <a:xfrm>
            <a:off x="3048000" y="4520475"/>
            <a:ext cx="12192000" cy="1200329"/>
          </a:xfrm>
          <a:prstGeom prst="rect">
            <a:avLst/>
          </a:prstGeom>
          <a:noFill/>
        </p:spPr>
        <p:txBody>
          <a:bodyPr wrap="square" rtlCol="0">
            <a:spAutoFit/>
          </a:bodyPr>
          <a:lstStyle/>
          <a:p>
            <a:r>
              <a:rPr lang="vi-VN" sz="7200" b="1" noProof="1">
                <a:solidFill>
                  <a:srgbClr val="1F569E"/>
                </a:solidFill>
                <a:latin typeface="Arial" panose="020B0604020202020204" pitchFamily="34" charset="0"/>
                <a:cs typeface="Arial" panose="020B0604020202020204" pitchFamily="34" charset="0"/>
              </a:rPr>
              <a:t>Em xin chân thành cảm ơn!</a:t>
            </a:r>
          </a:p>
        </p:txBody>
      </p:sp>
    </p:spTree>
    <p:extLst>
      <p:ext uri="{BB962C8B-B14F-4D97-AF65-F5344CB8AC3E}">
        <p14:creationId xmlns:p14="http://schemas.microsoft.com/office/powerpoint/2010/main" val="1240103599"/>
      </p:ext>
    </p:extLst>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3692</TotalTime>
  <Words>1805</Words>
  <Application>Microsoft Office PowerPoint</Application>
  <PresentationFormat>Custom</PresentationFormat>
  <Paragraphs>147</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Wingdings</vt:lpstr>
      <vt:lpstr>Cambria</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Là người có quyền tương tác với hệ thống, có quyền điều khiển, kiểm soát các hoạt động của hệ thống. Với các chức năng quản lý Thông tin tài khoản, quản lý thông tin sản phẩm, quản lý đơn hàng,…</dc:title>
  <dc:creator>Ha Vu</dc:creator>
  <cp:lastModifiedBy>kien le</cp:lastModifiedBy>
  <cp:revision>27</cp:revision>
  <dcterms:created xsi:type="dcterms:W3CDTF">2006-08-16T00:00:00Z</dcterms:created>
  <dcterms:modified xsi:type="dcterms:W3CDTF">2026-05-13T10:30:36Z</dcterms:modified>
  <dc:identifier>DAG6Rx4WiKg</dc:identifier>
</cp:coreProperties>
</file>